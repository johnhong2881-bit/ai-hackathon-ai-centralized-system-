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6"/>
  </p:notesMasterIdLst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6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5.svg" /><Relationship Id="rId2" Type="http://schemas.openxmlformats.org/officeDocument/2006/relationships/image" Target="media/image3.svg" /><Relationship Id="rId3" Type="http://schemas.openxmlformats.org/officeDocument/2006/relationships/image" Target="media/image4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8.svg" /><Relationship Id="rId3" Type="http://schemas.openxmlformats.org/officeDocument/2006/relationships/image" Target="media/image9.svg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2.svg" /><Relationship Id="rId2" Type="http://schemas.openxmlformats.org/officeDocument/2006/relationships/image" Target="media/image11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: '#F8FAFC', padding: '20px 60px 20px 60px', display: 'flex', flexDirection: 'column' }}&gt;&#10;&#10;  {/* A — Title Block */}&#10;  &lt;Box style={{ height: 90, display: 'flex', flexDirection: 'column', justifyContent: 'center', gap: 4 }}&gt;&#10;    &lt;Text style={{ fontSize: 14, color: '#3B82F6', fontWeight: '600', letterSpacing: '2px' }}&gt;SLIDE 01 — TARGET USERS&lt;/Text&gt;&#10;    &lt;Text style={{ fontSize: 36, color: '#0F172A', fontWeight: 'bold', lineHeight: 1.2 }}&gt;University Students&lt;/Text&gt;&#10;  &lt;/Box&gt;&#10;&#10;  {/* B — Content Area (550px) */}&#10;  &lt;Box style={{ height: 550, display: 'flex', flexDirection: 'row', gap: 40, alignItems: 'stretch' }}&gt;&#10;&#10;    {/* Left 55% — SVG Illustration */}&#10;    &lt;Box style={{ width: '55%', height: '100%', display: 'flex', alignItems: 'center', justifyContent: 'center' }}&gt;&#10;      &lt;svg width={590} height={460} viewBox=&quot;0 0 590 460&quot;&gt;&#10;        {/* Background card */}&#10;        &lt;rect x=&quot;10&quot; y=&quot;10&quot; width=&quot;570&quot; height=&quot;440&quot; rx=&quot;16&quot; fill=&quot;#FFFFFF&quot; stroke=&quot;#E2E8F0&quot; strokeWidth=&quot;2&quot; /&gt;&#10;        {/* Gradient header strip */}&#10;        &lt;rect x=&quot;10&quot; y=&quot;10&quot; width=&quot;570&quot; height=&quot;6&quot; rx=&quot;3&quot; fill=&quot;url(#grad01a)&quot; /&gt;&#10;&#10;        {/* University building silhouette — top center */}&#10;        &lt;rect x=&quot;210&quot; y=&quot;40&quot; width=&quot;170&quot; height=&quot;50&quot; rx=&quot;4&quot; fill=&quot;#E0F2FE&quot; /&gt;&#10;        &lt;polygon points=&quot;210,40 295,20 380,40&quot; fill=&quot;#3B82F6&quot; opacity=&quot;0.3&quot; /&gt;&#10;        &lt;rect x=&quot;225&quot; y=&quot;50&quot; width=&quot;20&quot; height=&quot;40&quot; rx=&quot;2&quot; fill=&quot;#3B82F6&quot; opacity=&quot;0.15&quot; /&gt;&#10;        &lt;rect x=&quot;255&quot; y=&quot;50&quot; width=&quot;20&quot; height=&quot;40&quot; rx=&quot;2&quot; fill=&quot;#3B82F6&quot; opacity=&quot;0.15&quot; /&gt;&#10;        &lt;rect x=&quot;285&quot; y=&quot;50&quot; width=&quot;20&quot; height=&quot;40&quot; rx=&quot;2&quot; fill=&quot;#3B82F6&quot; opacity=&quot;0.15&quot; /&gt;&#10;        &lt;rect x=&quot;315&quot; y=&quot;50&quot; width=&quot;20&quot; height=&quot;40&quot; rx=&quot;2&quot; fill=&quot;#3B82F6&quot; opacity=&quot;0.15&quot; /&gt;&#10;        &lt;rect x=&quot;345&quot; y=&quot;50&quot; width=&quot;20&quot; height=&quot;40&quot; rx=&quot;2&quot; fill=&quot;#3B82F6&quot; opacity=&quot;0.15&quot; /&gt;&#10;        &lt;text x=&quot;295&quot; y=&quot;38&quot; textAnchor=&quot;middle&quot; fontSize=&quot;9&quot; fill=&quot;#3B82F6&quot; fontWeight=&quot;600&quot; fontFamily=&quot;Inter, sans-serif&quot;&gt;UNIVERSITY&lt;/text&gt;&#10;&#10;        {/* Desk surface */}&#10;        &lt;rect x=&quot;60&quot; y=&quot;350&quot; width=&quot;470&quot; height=&quot;70&quot; rx=&quot;8&quot; fill=&quot;#F1F5F9&quot; /&gt;&#10;&#10;        {/* Person 1 — left (sitting at laptop) */}&#10;        &lt;circle cx=&quot;130&quot; cy=&quot;230&quot; r=&quot;26&quot; fill=&quot;#3B82F6&quot; opacity=&quot;0.85&quot; /&gt;&#10;        &lt;path d=&quot;M98 262 Q130 248 162 262 L168 350 L92 350 Z&quot; fill=&quot;#3B82F6&quot; opacity=&quot;0.7&quot; /&gt;&#10;        {/* Graduation cap on person 1 */}&#10;        &lt;rect x=&quot;112&quot; y=&quot;198&quot; width=&quot;36&quot; height=&quot;6&quot; rx=&quot;2&quot; fill=&quot;#1E293B&quot; /&gt;&#10;        &lt;polygon points=&quot;130,190 148,198 130,206 112,198&quot; fill=&quot;#1E293B&quot; /&gt;&#10;        &lt;line x1=&quot;148&quot; y1=&quot;198&quot; x2=&quot;152&quot; y2=&quot;208&quot; stroke=&quot;#F59E0B&quot; strokeWidth=&quot;1.5&quot; /&gt;&#10;        &lt;circle cx=&quot;152&quot; cy=&quot;210&quot; r=&quot;3&quot; fill=&quot;#F59E0B&quot; /&gt;&#10;        {/* Laptop */}&#10;        &lt;rect x=&quot;95&quot; y=&quot;355&quot; width=&quot;70&quot; height=&quot;42&quot; rx=&quot;4&quot; fill=&quot;#1E293B&quot; /&gt;&#10;        &lt;rect x=&quot;100&quot; y=&quot;360&quot; width=&quot;60&quot; height=&quot;30&quot; rx=&quot;2&quot; fill=&quot;#06B6D4&quot; opacity=&quot;0.8&quot; /&gt;&#10;&#10;        {/* Person 2 — center (standing, holding rubric paper) */}&#10;        &lt;circle cx=&quot;295&quot; cy=&quot;210&quot; r=&quot;26&quot; fill=&quot;#8B5CF6&quot; opacity=&quot;0.85&quot; /&gt;&#10;        &lt;path d=&quot;M263 242 Q295 228 327 242 L333 350 L257 350 Z&quot; fill=&quot;#8B5CF6&quot; opacity=&quot;0.7&quot; /&gt;&#10;        {/* Rubric paper */}&#10;        &lt;rect x=&quot;265&quot; y=&quot;265&quot; width=&quot;60&quot; height=&quot;78&quot; rx=&quot;4&quot; fill=&quot;#FFFFFF&quot; stroke=&quot;#CBD5E1&quot; strokeWidth=&quot;2&quot; /&gt;&#10;        &lt;line x1=&quot;275&quot; y1=&quot;283&quot; x2=&quot;315&quot; y2=&quot;283&quot; stroke=&quot;#3B82F6&quot; strokeWidth=&quot;2&quot; /&gt;&#10;        &lt;line x1=&quot;275&quot; y1=&quot;295&quot; x2=&quot;310&quot; y2=&quot;295&quot; stroke=&quot;#94A3B8&quot; strokeWidth=&quot;1.5&quot; /&gt;&#10;        &lt;line x1=&quot;275&quot; y1=&quot;307&quot; x2=&quot;310&quot; y2=&quot;307&quot; stroke=&quot;#94A3B8&quot; strokeWidth=&quot;1.5&quot; /&gt;&#10;        &lt;line x1=&quot;275&quot; y1=&quot;319&quot; x2=&quot;305&quot; y2=&quot;319&quot; stroke=&quot;#94A3B8&quot; strokeWidth=&quot;1.5&quot; /&gt;&#10;&#10;        {/* Person 3 — right (sitting at desk) */}&#10;        &lt;circle cx=&quot;460&quot; cy=&quot;230&quot; r=&quot;26&quot; fill=&quot;#06B6D4&quot; opacity=&quot;0.85&quot; /&gt;&#10;        &lt;path d=&quot;M428 262 Q460 248 492 262 L498 350 L422 350 Z&quot; fill=&quot;#06B6D4&quot; opacity=&quot;0.7&quot; /&gt;&#10;        {/* Phone/device */}&#10;        &lt;rect x=&quot;435&quot; y=&quot;355&quot; width=&quot;50&quot; height=&quot;34&quot; rx=&quot;4&quot; fill=&quot;#1E293B&quot; /&gt;&#10;        &lt;rect x=&quot;440&quot; y=&quot;360&quot; width=&quot;40&quot; height=&quot;24&quot; rx=&quot;2&quot; fill=&quot;#3B82F6&quot; opacity=&quot;0.7&quot; /&gt;&#10;&#10;        {/* Skill badges */}&#10;        &lt;rect x=&quot;82&quot; y=&quot;388&quot; width=&quot;96&quot; height=&quot;22&quot; rx=&quot;11&quot; fill=&quot;#DBEAFE&quot; /&gt;&#10;        &lt;text x=&quot;130&quot; y=&quot;403&quot; textAnchor=&quot;middle&quot; fontSize=&quot;10&quot; fill=&quot;#3B82F6&quot; fontWeight=&quot;600&quot; fontFamily=&quot;Inter, sans-serif&quot;&gt;Beginner&lt;/text&gt;&#10;&#10;        &lt;rect x=&quot;416&quot; y=&quot;388&quot; width=&quot;88&quot; height=&quot;22&quot; rx=&quot;11&quot; fill=&quot;#CFFAFE&quot; /&gt;&#10;        &lt;text x=&quot;460&quot; y=&quot;403&quot; textAnchor=&quot;middle&quot; fontSize=&quot;10&quot; fill=&quot;#06B6D4&quot; fontWeight=&quot;600&quot; fontFamily=&quot;Inter, sans-serif&quot;&gt;Advanced&lt;/text&gt;&#10;&#10;        {/* WhatsApp bubble — top right */}&#10;        &lt;rect x=&quot;420&quot; y=&quot;110&quot; width=&quot;150&quot; height=&quot;56&quot; rx=&quot;10&quot; fill=&quot;#E0E7FF&quot; /&gt;&#10;        &lt;text x=&quot;495&quot; y=&quot;130&quot; textAnchor=&quot;middle&quot; fontSize=&quot;11&quot; fill=&quot;#4F46E5&quot; fontWeight=&quot;600&quot; fontFamily=&quot;Inter, sans-serif&quot;&gt;WhatsApp Group&lt;/text&gt;&#10;        &lt;line x1=&quot;435&quot; y1=&quot;140&quot; x2=&quot;555&quot; y2=&quot;140&quot; stroke=&quot;#A5B4FC&quot; strokeWidth=&quot;1&quot; /&gt;&#10;        &lt;text x=&quot;435&quot; y=&quot;154&quot; fontSize=&quot;9&quot; fill=&quot;#6366F1&quot; fontFamily=&quot;Inter, sans-serif&quot;&gt;&quot;who's doing what?&quot;&lt;/text&gt;&#10;&#10;        {/* Deadline clock — top left */}&#10;        &lt;circle cx=&quot;80&quot; cy=&quot;130&quot; r=&quot;28&quot; fill=&quot;#FEF3C7&quot; stroke=&quot;#F59E0B&quot; strokeWidth=&quot;2&quot; /&gt;&#10;        &lt;circle cx=&quot;80&quot; cy=&quot;130&quot; r=&quot;20&quot; fill=&quot;#FFFFFF&quot; /&gt;&#10;        &lt;line x1=&quot;80&quot; y1=&quot;130&quot; x2=&quot;80&quot; y2=&quot;114&quot; stroke=&quot;#F59E0B&quot; strokeWidth=&quot;2.5&quot; strokeLinecap=&quot;round&quot; /&gt;&#10;        &lt;line x1=&quot;80&quot; y1=&quot;130&quot; x2=&quot;92&quot; y2=&quot;130&quot; stroke=&quot;#F59E0B&quot; strokeWidth=&quot;2&quot; strokeLinecap=&quot;round&quot; /&gt;&#10;        &lt;text x=&quot;80&quot; y=&quot;174&quot; textAnchor=&quot;middle&quot; fontSize=&quot;9&quot; fill=&quot;#92400E&quot; fontWeight=&quot;600&quot; fontFamily=&quot;Inter, sans-serif&quot;&gt;2 weeks left&lt;/text&gt;&#10;&#10;        &lt;defs&gt;&#10;          &lt;linearGradient id=&quot;grad01a&quot; x1=&quot;0%&quot; y1=&quot;0%&quot; x2=&quot;100%&quot; y2=&quot;0%&quot;&gt;&#10;            &lt;stop offset=&quot;0%&quot; stopColor=&quot;#3B82F6&quot; /&gt;&#10;            &lt;stop offset=&quot;100%&quot; stopColor=&quot;#06B6D4&quot; /&gt;&#10;          &lt;/linearGradient&gt;&#10;        &lt;/defs&gt;&#10;      &lt;/svg&gt;&#10;    &lt;/Box&gt;&#10;&#10;    {/* Right 45% — Key facts */}&#10;    &lt;Box style={{ width: '45%', height: '100%', display: 'flex', flexDirection: 'column', justifyContent: 'center', gap: 20 }}&gt;&#10;&#10;      {/* Hero label */}&#10;      &lt;Box style={{ padding: '20px 24px', background: 'linear-gradient(135deg, #3B82F6, #06B6D4)', borderRadius: 12, display: 'flex', flexDirection: 'column', gap: 6 }}&gt;&#10;        &lt;Text style={{ fontSize: 14, color: '#E0F2FE', fontWeight: '600', letterSpacing: '1px' }}&gt;EVERY SEMESTER&lt;/Text&gt;&#10;        &lt;Text style={{ fontSize: 22, fontWeight: 'bold', color: '#FFFFFF', lineHeight: 1.3 }}&gt;&#10;          4 students. 1 group project. 1 rubric PDF. 1 deadline.&#10;        &lt;/Text&gt;&#10;      &lt;/Box&gt;&#10;&#10;      {/* Stat card 1 */}&#10;      &lt;Box style={{ padding: '18px 22px', background: '#FFFFFF', borderRadius: 12, boxShadow: '0 4px 16px rgba(0,0,0,0.05)', display: 'flex', flexDirection: 'row', alignItems: 'center', gap: 16 }}&gt;&#10;        &lt;Box style={{ width: 52, height: 52, borderRadius: 12, background: 'linear-gradient(135deg, #3B82F6, #06B6D4)', display: 'flex', justifyContent: 'center', alignItems: 'center' }}&gt;&#10;          &lt;Text style={{ fontSize: 26, fontWeight: 'bold', color: '#FFFFFF' }}&gt;4&lt;/Text&gt;&#10;        &lt;/Box&gt;&#10;        &lt;Box&gt;&#10;          &lt;Text style={{ fontSize: 16, fontWeight: 'bold', color: '#1E293B' }}&gt;4-Person Teams&lt;/Text&gt;&#10;          &lt;Text style={{ fontSize: 13, color: '#64748B', lineHeight: 1.4 }}&gt;Mixed skill levels, forced together&lt;/Text&gt;&#10;        &lt;/Box&gt;&#10;      &lt;/Box&gt;&#10;&#10;      {/* Stat card 2 */}&#10;      &lt;Box style={{ padding: '18px 22px', background: '#FFFFFF', borderRadius: 12, boxShadow: '0 4px 16px rgba(0,0,0,0.05)', display: 'flex', flexDirection: 'row', alignItems: 'center', gap: 16 }}&gt;&#10;        &lt;Box style={{ width: 52, height: 52, borderRadius: 12, background: 'linear-gradient(135deg, #06B6D4, #8B5CF6)', display: 'flex', justifyContent: 'center', alignItems: 'center' }}&gt;&#10;          &lt;Text style={{ fontSize: 26, fontWeight: 'bold', color: '#FFFFFF' }}&gt;2-3&lt;/Text&gt;&#10;        &lt;/Box&gt;&#10;        &lt;Box&gt;&#10;          &lt;Text style={{ fontSize: 16, fontWeight: 'bold', color: '#1E293B' }}&gt;Weeks to Deadline&lt;/Text&gt;&#10;          &lt;Text style={{ fontSize: 13, color: '#64748B', lineHeight: 1.4 }}&gt;No project manager, no tooling&lt;/Text&gt;&#10;        &lt;/Box&gt;&#10;      &lt;/Box&gt;&#10;&#10;      {/* Stat card 3 */}&#10;      &lt;Box style={{ padding: '18px 22px', background: '#FFFFFF', borderRadius: 12, boxShadow: '0 4px 16px rgba(0,0,0,0.05)', display: 'flex', flexDirection: 'row', alignItems: 'center', gap: 16 }}&gt;&#10;        &lt;Box style={{ width: 52, height: 52, borderRadius: 12, background: 'linear-gradient(135deg, #8B5CF6, #3B82F6)', display: 'flex', justifyContent: 'center', alignItems: 'center' }}&gt;&#10;          &lt;Text style={{ fontSize: 26, fontWeight: 'bold', color: '#FFFFFF' }}&gt;0&lt;/Text&gt;&#10;        &lt;/Box&gt;&#10;        &lt;Box&gt;&#10;          &lt;Text style={{ fontSize: 16, fontWeight: 'bold', color: '#1E293B' }}&gt;Tools Provided&lt;/Text&gt;&#10;          &lt;Text style={{ fontSize: 13, color: '#64748B', lineHeight: 1.4 }}&gt;Just a WhatsApp group and hope&lt;/Text&gt;&#10;        &lt;/Box&gt;&#10;      &lt;/Box&gt;&#10;&#10;    &lt;/Box&gt;&#10;  &lt;/Box&gt;&#10;&#10;  {/* C — Footer */}&#10;  &lt;Box style={{ height: 60, display: 'flex', flexDirection: 'row', justifyContent: 'space-between', alignItems: 'center' }}&gt;&#10;    &lt;Text style={{ fontSize: 14, color: '#94A3B8', fontWeight: '500' }}&gt;TaskFlow AI&lt;/Text&gt;&#10;    &lt;Text style={{ fontSize: 14, color: '#94A3B8' }}&gt;01 / 05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571500" y="276225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SLIDE 01 — TARGET USERS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476250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University Students</a:t>
            </a:r>
            <a:endParaRPr/>
          </a:p>
        </p:txBody>
      </p:sp>
      <p:pic>
        <p:nvPicPr>
          <p:cNvPr id="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" y="1476375"/>
            <a:ext cx="5619750" cy="4381500"/>
          </a:xfrm>
          <a:prstGeom prst="rect">
            <a:avLst/>
          </a:prstGeom>
          <a:ln/>
        </p:spPr>
      </p:pic>
      <p:sp>
        <p:nvSpPr>
          <p:cNvPr id="6" name=""/>
          <p:cNvSpPr/>
          <p:nvPr/>
        </p:nvSpPr>
        <p:spPr>
          <a:xfrm rot="0" flipH="0" flipV="0">
            <a:off x="6819900" y="1495425"/>
            <a:ext cx="4800600" cy="1257300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048500" y="1685925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75">
                <a:solidFill>
                  <a:srgbClr val="E0F2FE"/>
                </a:solidFill>
                <a:latin typeface="Microsoft YaHei"/>
                <a:ea typeface="Microsoft YaHei"/>
              </a:rPr>
              <a:t>EVERY SEMESTER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048500" y="1905000"/>
            <a:ext cx="4343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 students. 1 group project. 1 rubric PDF. 1 deadline.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819900" y="2943225"/>
            <a:ext cx="48006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7029450" y="3114675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200900" y="320992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77150" y="3162300"/>
            <a:ext cx="1990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4-Person Teams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7677150" y="3352800"/>
            <a:ext cx="19907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Mixed skill levels, forced together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19900" y="3971925"/>
            <a:ext cx="48006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7029450" y="4143375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6B6D4"/>
              </a:gs>
              <a:gs pos="100000">
                <a:srgbClr val="8B5CF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067550" y="4238625"/>
            <a:ext cx="419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2-3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677150" y="4191000"/>
            <a:ext cx="186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Weeks to Deadline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677150" y="4381500"/>
            <a:ext cx="1866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No project manager, no tooling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819900" y="5000625"/>
            <a:ext cx="48006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7029450" y="5172075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8B5CF6"/>
              </a:gs>
              <a:gs pos="100000">
                <a:srgbClr val="3B82F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200900" y="5267325"/>
            <a:ext cx="161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677150" y="5219700"/>
            <a:ext cx="1990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293B"/>
                </a:solidFill>
                <a:latin typeface="Microsoft YaHei"/>
                <a:ea typeface="Microsoft YaHei"/>
              </a:rPr>
              <a:t>Tools Provided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677150" y="5410200"/>
            <a:ext cx="19907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Just a WhatsApp group and hope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71500" y="6496050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11633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01 / 05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" name="" descr="&lt;Slide style={{ width: '1280px', height: '720px', background: '#F8FAFC', padding: '20px 60px 20px 60px', display: 'flex', flexDirection: 'column' }}&gt;&#10;&#10;  {/* A — Title Block */}&#10;  &lt;Box style={{ height: 80, display: 'flex', flexDirection: 'column', justifyContent: 'center', gap: 4 }}&gt;&#10;    &lt;Text style={{ fontSize: 14, color: '#3B82F6', fontWeight: '600', letterSpacing: '2px' }}&gt;SLIDE 02 — PROBLEM STATEMENT&lt;/Text&gt;&#10;    &lt;Text style={{ fontSize: 36, color: '#0F172A', fontWeight: 'bold', lineHeight: 1.2 }}&gt;Four Problems We Keep Facing&lt;/Text&gt;&#10;  &lt;/Box&gt;&#10;&#10;  {/* B — Content Area (4 problem rows) */}&#10;  &lt;Box style={{ height: 530, display: 'flex', flexDirection: 'column', gap: 12, marginTop: 10 }}&gt;&#10;&#10;    {/* Problem 1 — Complex Requirements */}&#10;    &lt;Box style={{ height: 120, display: 'flex', flexDirection: 'row', alignItems: 'center', gap: 28, padding: '0 24px', background: '#FFFFFF', borderRadius: 12, boxShadow: '0 4px 16px rgba(0,0,0,0.05)', borderLeft: '6px solid #3B82F6' }}&gt;&#10;      {/* Giant number */}&#10;      &lt;Text style={{ fontSize: 72, fontWeight: 'bold', color: '#3B82F6', lineHeight: 1.0, width: 64, textAlign: 'center' }}&gt;1&lt;/Text&gt;&#10;      {/* Content */}&#10;      &lt;Box style={{ flex: 1, display: 'flex', flexDirection: 'column', gap: 4 }}&gt;&#10;        &lt;Text style={{ fontSize: 20, fontWeight: 'bold', color: '#0F172A' }}&gt;Complex Assignment Requirements&lt;/Text&gt;&#10;        &lt;Text style={{ fontSize: 14, color: '#475569', lineHeight: 1.4 }}&gt;&#10;          Students spend excessive time understanding requirements and marking rubric.&#10;          &lt;span style={{ color: '#3B82F6', fontWeight: '600' }}&gt; Hard to grasp key deliverables&lt;/span&gt; and grading criteria quickly.&#10;        &lt;/Text&gt;&#10;      &lt;/Box&gt;&#10;      {/* Icon */}&#10;      &lt;FAIcon name='file-alt' style={{ fill: '#3B82F6', width: 36, height: 36, opacity: 0.3 }} /&gt;&#10;    &lt;/Box&gt;&#10;&#10;    {/* Problem 2 — Unfair Distribution */}&#10;    &lt;Box style={{ height: 120, display: 'flex', flexDirection: 'row', alignItems: 'center', gap: 28, padding: '0 24px', background: '#FFFFFF', borderRadius: 12, boxShadow: '0 4px 16px rgba(0,0,0,0.05)', borderLeft: '6px solid #EF4444' }}&gt;&#10;      {/* Giant number */}&#10;      &lt;Text style={{ fontSize: 72, fontWeight: 'bold', color: '#EF4444', lineHeight: 1.0, width: 64, textAlign: 'center' }}&gt;2&lt;/Text&gt;&#10;      {/* Content */}&#10;      &lt;Box style={{ flex: 1, display: 'flex', flexDirection: 'column', gap: 4 }}&gt;&#10;        &lt;Text style={{ fontSize: 20, fontWeight: 'bold', color: '#0F172A' }}&gt;Unfair Task Distribution&lt;/Text&gt;&#10;        &lt;Text style={{ fontSize: 14, color: '#475569', lineHeight: 1.4 }}&gt;&#10;          Uneven workload and unclear responsibilities among members.&#10;          &lt;span style={{ color: '#EF4444', fontWeight: '600' }}&gt; No objective basis&lt;/span&gt; for assignment — hurts team collaboration and morale.&#10;        &lt;/Text&gt;&#10;      &lt;/Box&gt;&#10;      {/* Icon */}&#10;      &lt;FAIcon name='users' style={{ fill: '#EF4444', width: 36, height: 36, opacity: 0.3 }} /&gt;&#10;    &lt;/Box&gt;&#10;&#10;    {/* Problem 3 — No Rescue for Unexpected Situations */}&#10;    &lt;Box style={{ height: 120, display: 'flex', flexDirection: 'row', alignItems: 'center', gap: 28, padding: '0 24px', background: '#FFFFFF', borderRadius: 12, boxShadow: '0 4px 16px rgba(0,0,0,0.05)', borderLeft: '6px solid #8B5CF6' }}&gt;&#10;      {/* Giant number */}&#10;      &lt;Text style={{ fontSize: 72, fontWeight: 'bold', color: '#8B5CF6', lineHeight: 1.0, width: 64, textAlign: 'center' }}&gt;3&lt;/Text&gt;&#10;      {/* Content */}&#10;      &lt;Box style={{ flex: 1, display: 'flex', flexDirection: 'column', gap: 4 }}&gt;&#10;        &lt;Text style={{ fontSize: 20, fontWeight: 'bold', color: '#0F172A' }}&gt;No Rescue for Emergencies&lt;/Text&gt;&#10;        &lt;Text style={{ fontSize: 14, color: '#475569', lineHeight: 1.4 }}&gt;&#10;          When members are absent, drop out, or the deadline looms —&#10;          &lt;span style={{ color: '#8B5CF6', fontWeight: '600' }}&gt; teams can't reassign work in time&lt;/span&gt;. Last-minute panic, missed criteria.&#10;        &lt;/Text&gt;&#10;      &lt;/Box&gt;&#10;      {/* Icon */}&#10;      &lt;FAIcon name='exclamation-triangle' style={{ fill: '#8B5CF6', width: 36, height: 36, opacity: 0.3 }} /&gt;&#10;    &lt;/Box&gt;&#10;&#10;    {/* Problem 4 — Invisible Contribution */}&#10;    &lt;Box style={{ height: 120, display: 'flex', flexDirection: 'row', alignItems: 'center', gap: 28, padding: '0 24px', background: '#FFFFFF', borderRadius: 12, boxShadow: '0 4px 16px rgba(0,0,0,0.05)', borderLeft: '6px solid #F59E0B' }}&gt;&#10;      {/* Giant number */}&#10;      &lt;Text style={{ fontSize: 72, fontWeight: 'bold', color: '#F59E0B', lineHeight: 1.0, width: 64, textAlign: 'center' }}&gt;4&lt;/Text&gt;&#10;      {/* Content */}&#10;      &lt;Box style={{ flex: 1, display: 'flex', flexDirection: 'column', gap: 4 }}&gt;&#10;        &lt;Text style={{ fontSize: 20, fontWeight: 'bold', color: '#0F172A' }}&gt;Invisible Contribution&lt;/Text&gt;&#10;        &lt;Text style={{ fontSize: 14, color: '#475569', lineHeight: 1.4 }}&gt;&#10;          No objective record of who did what.&#10;          &lt;span style={{ color: '#F59E0B', fontWeight: '600' }}&gt; Contribution Form disputes&lt;/span&gt;, free-rider resentment, no data to back claims.&#10;        &lt;/Text&gt;&#10;      &lt;/Box&gt;&#10;      {/* Icon */}&#10;      &lt;FAIcon name='question-circle' style={{ fill: '#F59E0B', width: 36, height: 36, opacity: 0.3 }} /&gt;&#10;    &lt;/Box&gt;&#10;&#10;  &lt;/Box&gt;&#10;&#10;  {/* C — Footer */}&#10;  &lt;Box style={{ height: 50, display: 'flex', flexDirection: 'row', justifyContent: 'space-between', alignItems: 'center' }}&gt;&#10;    &lt;Text style={{ fontSize: 14, color: '#94A3B8', fontWeight: '500' }}&gt;TaskFlow AI&lt;/Text&gt;&#10;    &lt;Text style={{ fontSize: 14, color: '#94A3B8' }}&gt;02 / 05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71500" y="2286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SLIDE 02 — PROBLEM STATEMENT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Four Problems We Keep Facing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28650" y="1047750"/>
            <a:ext cx="11049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28650" y="1047750"/>
            <a:ext cx="11049000" cy="1143000"/>
          </a:xfrm>
          <a:custGeom>
            <a:pathLst>
              <a:path w="1160" h="120">
                <a:moveTo>
                  <a:pt x="11" y="0"/>
                </a:moveTo>
                <a:cubicBezTo>
                  <a:pt x="8" y="0"/>
                  <a:pt x="6" y="3"/>
                  <a:pt x="6" y="6"/>
                </a:cubicBezTo>
                <a:lnTo>
                  <a:pt x="6" y="114"/>
                </a:lnTo>
                <a:cubicBezTo>
                  <a:pt x="6" y="117"/>
                  <a:pt x="8" y="119"/>
                  <a:pt x="11" y="120"/>
                </a:cubicBezTo>
                <a:cubicBezTo>
                  <a:pt x="5" y="119"/>
                  <a:pt x="0" y="114"/>
                  <a:pt x="0" y="10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57250" y="1209675"/>
            <a:ext cx="609600" cy="8286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5400" b="1">
                <a:solidFill>
                  <a:srgbClr val="3B82F6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733550" y="1371600"/>
            <a:ext cx="904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Complex Assignment Requirements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733550" y="1638300"/>
            <a:ext cx="9048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Students spend excessive time understanding requirements and marking rubric.</a:t>
            </a:r>
            <a:r>
              <a:rPr lang="en-US" sz="1050" b="1">
                <a:solidFill>
                  <a:srgbClr val="3B82F6"/>
                </a:solidFill>
                <a:latin typeface="Microsoft YaHei"/>
                <a:ea typeface="Microsoft YaHei"/>
              </a:rPr>
              <a:t xml:space="preserve"> Hard to grasp key deliverables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and grading criteria quickly.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28650" y="2305050"/>
            <a:ext cx="11049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628650" y="2305050"/>
            <a:ext cx="11049000" cy="1143000"/>
          </a:xfrm>
          <a:custGeom>
            <a:pathLst>
              <a:path w="1160" h="120">
                <a:moveTo>
                  <a:pt x="11" y="0"/>
                </a:moveTo>
                <a:cubicBezTo>
                  <a:pt x="8" y="0"/>
                  <a:pt x="6" y="3"/>
                  <a:pt x="6" y="6"/>
                </a:cubicBezTo>
                <a:lnTo>
                  <a:pt x="6" y="114"/>
                </a:lnTo>
                <a:cubicBezTo>
                  <a:pt x="6" y="117"/>
                  <a:pt x="8" y="119"/>
                  <a:pt x="11" y="120"/>
                </a:cubicBezTo>
                <a:cubicBezTo>
                  <a:pt x="5" y="119"/>
                  <a:pt x="0" y="114"/>
                  <a:pt x="0" y="10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57250" y="2466975"/>
            <a:ext cx="609600" cy="8286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5400" b="1">
                <a:solidFill>
                  <a:srgbClr val="EF444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733550" y="2628900"/>
            <a:ext cx="904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Unfair Task Distribution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733550" y="2895600"/>
            <a:ext cx="9048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Uneven workload and unclear responsibilities among members.</a:t>
            </a:r>
            <a:r>
              <a:rPr lang="en-US" sz="1050" b="1">
                <a:solidFill>
                  <a:srgbClr val="EF4444"/>
                </a:solidFill>
                <a:latin typeface="Microsoft YaHei"/>
                <a:ea typeface="Microsoft YaHei"/>
              </a:rPr>
              <a:t xml:space="preserve"> No objective basis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 xml:space="preserve"> for assignment — hurts team collaboration and morale.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28650" y="3562350"/>
            <a:ext cx="11049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628650" y="3562350"/>
            <a:ext cx="11049000" cy="1143000"/>
          </a:xfrm>
          <a:custGeom>
            <a:pathLst>
              <a:path w="1160" h="120">
                <a:moveTo>
                  <a:pt x="11" y="0"/>
                </a:moveTo>
                <a:cubicBezTo>
                  <a:pt x="8" y="0"/>
                  <a:pt x="6" y="3"/>
                  <a:pt x="6" y="6"/>
                </a:cubicBezTo>
                <a:lnTo>
                  <a:pt x="6" y="114"/>
                </a:lnTo>
                <a:cubicBezTo>
                  <a:pt x="6" y="117"/>
                  <a:pt x="8" y="119"/>
                  <a:pt x="11" y="120"/>
                </a:cubicBezTo>
                <a:cubicBezTo>
                  <a:pt x="5" y="119"/>
                  <a:pt x="0" y="114"/>
                  <a:pt x="0" y="10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57250" y="3724275"/>
            <a:ext cx="609600" cy="8286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5400" b="1">
                <a:solidFill>
                  <a:srgbClr val="8B5CF6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733550" y="3886200"/>
            <a:ext cx="904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No Rescue for Emergencies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733550" y="4152900"/>
            <a:ext cx="9048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When members are absent, drop out, or the deadline looms —</a:t>
            </a:r>
            <a:r>
              <a:rPr lang="en-US" sz="1050" b="1">
                <a:solidFill>
                  <a:srgbClr val="8B5CF6"/>
                </a:solidFill>
                <a:latin typeface="Microsoft YaHei"/>
                <a:ea typeface="Microsoft YaHei"/>
              </a:rPr>
              <a:t xml:space="preserve"> teams can't reassign work in time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. Last-minute panic, missed criteria.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28650" y="4819650"/>
            <a:ext cx="11049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628650" y="4819650"/>
            <a:ext cx="11049000" cy="1143000"/>
          </a:xfrm>
          <a:custGeom>
            <a:pathLst>
              <a:path w="1160" h="120">
                <a:moveTo>
                  <a:pt x="11" y="0"/>
                </a:moveTo>
                <a:cubicBezTo>
                  <a:pt x="8" y="0"/>
                  <a:pt x="6" y="3"/>
                  <a:pt x="6" y="6"/>
                </a:cubicBezTo>
                <a:lnTo>
                  <a:pt x="6" y="114"/>
                </a:lnTo>
                <a:cubicBezTo>
                  <a:pt x="6" y="117"/>
                  <a:pt x="8" y="119"/>
                  <a:pt x="11" y="120"/>
                </a:cubicBezTo>
                <a:cubicBezTo>
                  <a:pt x="5" y="119"/>
                  <a:pt x="0" y="114"/>
                  <a:pt x="0" y="108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57250" y="4981575"/>
            <a:ext cx="609600" cy="8286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5400" b="1">
                <a:solidFill>
                  <a:srgbClr val="F59E0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733550" y="5143500"/>
            <a:ext cx="904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Invisible Contribution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733550" y="5410200"/>
            <a:ext cx="9048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No objective record of who did what.</a:t>
            </a:r>
            <a:r>
              <a:rPr lang="en-US" sz="1050" b="1">
                <a:solidFill>
                  <a:srgbClr val="F59E0B"/>
                </a:solidFill>
                <a:latin typeface="Microsoft YaHei"/>
                <a:ea typeface="Microsoft YaHei"/>
              </a:rPr>
              <a:t xml:space="preserve"> Contribution Form disputes</a:t>
            </a: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, free-rider resentment, no data to back claims.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71500" y="6257925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11633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02 / 05</a:t>
            </a:r>
            <a:endParaRPr/>
          </a:p>
        </p:txBody>
      </p:sp>
      <p:pic>
        <p:nvPicPr>
          <p:cNvPr id="52" name=""/>
          <p:cNvPicPr>
            <a:picLocks noChangeAspect="1"/>
          </p:cNvPicPr>
          <p:nvPr/>
        </p:nvPicPr>
        <p:blipFill>
          <a:blip>
            <a:alphaModFix amt="3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049000" y="1447800"/>
            <a:ext cx="342900" cy="342900"/>
          </a:xfrm>
          <a:prstGeom prst="rect">
            <a:avLst/>
          </a:prstGeom>
          <a:ln/>
        </p:spPr>
      </p:pic>
      <p:pic>
        <p:nvPicPr>
          <p:cNvPr id="53" name=""/>
          <p:cNvPicPr>
            <a:picLocks noChangeAspect="1"/>
          </p:cNvPicPr>
          <p:nvPr/>
        </p:nvPicPr>
        <p:blipFill>
          <a:blip>
            <a:alphaModFix amt="30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049000" y="2705100"/>
            <a:ext cx="342900" cy="342900"/>
          </a:xfrm>
          <a:prstGeom prst="rect">
            <a:avLst/>
          </a:prstGeom>
          <a:ln/>
        </p:spPr>
      </p:pic>
      <p:pic>
        <p:nvPicPr>
          <p:cNvPr id="54" name=""/>
          <p:cNvPicPr>
            <a:picLocks noChangeAspect="1"/>
          </p:cNvPicPr>
          <p:nvPr/>
        </p:nvPicPr>
        <p:blipFill>
          <a:blip>
            <a:alphaModFix amt="30000"/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1049000" y="3962400"/>
            <a:ext cx="342900" cy="342900"/>
          </a:xfrm>
          <a:prstGeom prst="rect">
            <a:avLst/>
          </a:prstGeom>
          <a:ln/>
        </p:spPr>
      </p:pic>
      <p:pic>
        <p:nvPicPr>
          <p:cNvPr id="55" name=""/>
          <p:cNvPicPr>
            <a:picLocks noChangeAspect="1"/>
          </p:cNvPicPr>
          <p:nvPr/>
        </p:nvPicPr>
        <p:blipFill>
          <a:blip>
            <a:alphaModFix amt="30000"/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1049000" y="5219700"/>
            <a:ext cx="342900" cy="3429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6" name="" descr="&lt;Slide style={{ width: '1280px', height: '720px', background: 'linear-gradient(135deg, #0F172A 0%, #1E293B 100%)', padding: '0', display: 'flex', flexDirection: 'column' }}&gt;&#10;&#10;  {/* Decorative gradient orbs */}&#10;  &lt;Box style={{ position: 'absolute', top: -60, right: -60, width: 300, height: 300, borderRadius: '50%', background: 'radial-gradient(circle, rgba(59,130,246,0.15) 0%, transparent 70%)' }} /&gt;&#10;  &lt;Box style={{ position: 'absolute', bottom: -40, left: -40, width: 240, height: 240, borderRadius: '50%', background: 'radial-gradient(circle, rgba(139,92,246,0.12) 0%, transparent 70%)' }} /&gt;&#10;&#10;  {/* A — Title Block (on dark) */}&#10;  &lt;Box style={{ height: 120, padding: '24px 60px 0 60px', display: 'flex', flexDirection: 'column', gap: 6, position: 'relative', zIndex: 1 }}&gt;&#10;    &lt;Text style={{ fontSize: 14, color: '#06B6D4', fontWeight: '600', letterSpacing: '2px' }}&gt;SLIDE 03 — AI SOLUTION&lt;/Text&gt;&#10;    &lt;Text style={{ fontSize: 42, color: '#F1F5F9', fontWeight: 'bold', lineHeight: 1.2 }}&gt;&#10;      One Prompt &lt;span style={{ background: 'linear-gradient(135deg, #3B82F6, #06B6D4)', fontWeight: 'bold' }}&gt;→&lt;/span&gt; Full Execution&#10;    &lt;/Text&gt;&#10;  &lt;/Box&gt;&#10;&#10;  {/* B — Content: 6-Agent Pipeline Diagram */}&#10;  &lt;Box style={{ flex: 1, padding: '0 60px', display: 'flex', flexDirection: 'column', justifyContent: 'center', gap: 24, position: 'relative', zIndex: 1 }}&gt;&#10;&#10;    {/* Pipeline SVG */}&#10;    &lt;Box style={{ display: 'flex', justifyContent: 'center', alignItems: 'center' }}&gt;&#10;      &lt;svg width={1160} height={340} viewBox=&quot;0 0 1160 340&quot;&gt;&#10;        &lt;defs&gt;&#10;          &lt;linearGradient id=&quot;nodeGrad&quot; x1=&quot;0%&quot; y1=&quot;0%&quot; x2=&quot;100%&quot; y2=&quot;100%&quot;&gt;&#10;            &lt;stop offset=&quot;0%&quot; stopColor=&quot;#3B82F6&quot; /&gt;&#10;            &lt;stop offset=&quot;100%&quot; stopColor=&quot;#06B6D4&quot; /&gt;&#10;          &lt;/linearGradient&gt;&#10;          &lt;linearGradient id=&quot;nodeGradAlt&quot; x1=&quot;0%&quot; y1=&quot;0%&quot; x2=&quot;100%&quot; y2=&quot;100%&quot;&gt;&#10;            &lt;stop offset=&quot;0%&quot; stopColor=&quot;#06B6D4&quot; /&gt;&#10;            &lt;stop offset=&quot;100%&quot; stopColor=&quot;#8B5CF6&quot; /&gt;&#10;          &lt;/linearGradient&gt;&#10;          &lt;linearGradient id=&quot;arrowGrad&quot; x1=&quot;0%&quot; y1=&quot;0%&quot; x2=&quot;100%&quot; y2=&quot;0%&quot;&gt;&#10;            &lt;stop offset=&quot;0%&quot; stopColor=&quot;#3B82F6&quot; /&gt;&#10;            &lt;stop offset=&quot;100%&quot; stopColor=&quot;#06B6D4&quot; /&gt;&#10;          &lt;/linearGradient&gt;&#10;        &lt;/defs&gt;&#10;&#10;        {/* Row 1: Agents 1-3 */}&#10;        {/* Node 1: Rubric Intelligence */}&#10;        &lt;rect x=&quot;20&quot; y=&quot;30&quot; width=&quot;170&quot; height=&quot;80&quot; rx=&quot;12&quot; fill=&quot;url(#nodeGrad)&quot; opacity=&quot;0.95&quot; /&gt;&#10;        &lt;text x=&quot;105&quot; y=&quot;62&quot; textAnchor=&quot;middle&quot; fontSize=&quot;14&quot; fill=&quot;#FFFFFF&quot; fontWeight=&quot;bold&quot; fontFamily=&quot;JetBrains Mono, monospace&quot;&gt;AGENT 01&lt;/text&gt;&#10;        &lt;text x=&quot;105&quot; y=&quot;84&quot; textAnchor=&quot;middle&quot; fontSize=&quot;13&quot; fill=&quot;#E0F2FE&quot; fontFamily=&quot;Inter, sans-serif&quot;&gt;Rubric Intelligence&lt;/text&gt;&#10;&#10;        {/* Arrow 1→2 */}&#10;        &lt;line x1=&quot;190&quot; y1=&quot;70&quot; x2=&quot;220&quot; y2=&quot;70&quot; stroke=&quot;url(#arrowGrad)&quot; strokeWidth=&quot;2.5&quot; strokeDasharray=&quot;6 4&quot; /&gt;&#10;        &lt;polygon points=&quot;220,65 230,70 220,75&quot; fill=&quot;#06B6D4&quot; /&gt;&#10;&#10;        {/* Node 2: Task Decomposition */}&#10;        &lt;rect x=&quot;230&quot; y=&quot;30&quot; width=&quot;170&quot; height=&quot;80&quot; rx=&quot;12&quot; fill=&quot;url(#nodeGrad)&quot; opacity=&quot;0.95&quot; /&gt;&#10;        &lt;text x=&quot;315&quot; y=&quot;62&quot; textAnchor=&quot;middle&quot; fontSize=&quot;14&quot; fill=&quot;#FFFFFF&quot; fontWeight=&quot;bold&quot; fontFamily=&quot;JetBrains Mono, monospace&quot;&gt;AGENT 02&lt;/text&gt;&#10;        &lt;text x=&quot;315&quot; y=&quot;84&quot; textAnchor=&quot;middle&quot; fontSize=&quot;13&quot; fill=&quot;#E0F2FE&quot; fontFamily=&quot;Inter, sans-serif&quot;&gt;Task Decomposition&lt;/text&gt;&#10;&#10;        {/* Arrow 2→3 */}&#10;        &lt;line x1=&quot;400&quot; y1=&quot;70&quot; x2=&quot;430&quot; y2=&quot;70&quot; stroke=&quot;url(#arrowGrad)&quot; strokeWidth=&quot;2.5&quot; strokeDasharray=&quot;6 4&quot; /&gt;&#10;        &lt;polygon points=&quot;430,65 440,70 430,75&quot; fill=&quot;#06B6D4&quot; /&gt;&#10;&#10;        {/* Node 3: Skill Matching */}&#10;        &lt;rect x=&quot;440&quot; y=&quot;30&quot; width=&quot;170&quot; height=&quot;80&quot; rx=&quot;12&quot; fill=&quot;url(#nodeGrad)&quot; opacity=&quot;0.95&quot; /&gt;&#10;        &lt;text x=&quot;525&quot; y=&quot;62&quot; textAnchor=&quot;middle&quot; fontSize=&quot;14&quot; fill=&quot;#FFFFFF&quot; fontWeight=&quot;bold&quot; fontFamily=&quot;JetBrains Mono, monospace&quot;&gt;AGENT 03&lt;/text&gt;&#10;        &lt;text x=&quot;525&quot; y=&quot;84&quot; textAnchor=&quot;middle&quot; fontSize=&quot;13&quot; fill=&quot;#E0F2FE&quot; fontFamily=&quot;Inter, sans-serif&quot;&gt;Skill Matching&lt;/text&gt;&#10;&#10;        {/* Arrow 3→4 (down + right) */}&#10;        &lt;path d=&quot;M 525 110 L 525 160 L 610 160 L 610 190&quot; fill=&quot;none&quot; stroke=&quot;url(#arrowGrad)&quot; strokeWidth=&quot;2.5&quot; strokeDasharray=&quot;6 4&quot; /&gt;&#10;        &lt;polygon points=&quot;605,185 610,195 615,185&quot; fill=&quot;#06B6D4&quot; /&gt;&#10;&#10;        {/* Row 2: Agents 4-6 (right to left) */}&#10;        {/* Node 4: Critical Path */}&#10;        &lt;rect x=&quot;525&quot; y=&quot;200&quot; width=&quot;170&quot; height=&quot;80&quot; rx=&quot;12&quot; fill=&quot;url(#nodeGradAlt)&quot; opacity=&quot;0.95&quot; /&gt;&#10;        &lt;text x=&quot;610&quot; y=&quot;232&quot; textAnchor=&quot;middle&quot; fontSize=&quot;14&quot; fill=&quot;#FFFFFF&quot; fontWeight=&quot;bold&quot; fontFamily=&quot;JetBrains Mono, monospace&quot;&gt;AGENT 04&lt;/text&gt;&#10;        &lt;text x=&quot;610&quot; y=&quot;254&quot; textAnchor=&quot;middle&quot; fontSize=&quot;13&quot; fill=&quot;#E0F2FE&quot; fontFamily=&quot;Inter, sans-serif&quot;&gt;Critical Path&lt;/text&gt;&#10;&#10;        {/* Arrow 4→5 (left) */}&#10;        &lt;line x1=&quot;525&quot; y1=&quot;240&quot; x2=&quot;495&quot; y2=&quot;240&quot; stroke=&quot;url(#arrowGrad)&quot; strokeWidth=&quot;2.5&quot; strokeDasharray=&quot;6 4&quot; /&gt;&#10;        &lt;polygon points=&quot;495,235 485,240 495,245&quot; fill=&quot;#8B5CF6&quot; /&gt;&#10;&#10;        {/* Node 5: Risk Detection */}&#10;        &lt;rect x=&quot;315&quot; y=&quot;200&quot; width=&quot;170&quot; height=&quot;80&quot; rx=&quot;12&quot; fill=&quot;url(#nodeGradAlt)&quot; opacity=&quot;0.95&quot; /&gt;&#10;        &lt;text x=&quot;400&quot; y=&quot;232&quot; textAnchor=&quot;middle&quot; fontSize=&quot;14&quot; fill=&quot;#FFFFFF&quot; fontWeight=&quot;bold&quot; fontFamily=&quot;JetBrains Mono, monospace&quot;&gt;AGENT 05&lt;/text&gt;&#10;        &lt;text x=&quot;400&quot; y=&quot;254&quot; textAnchor=&quot;middle&quot; fontSize=&quot;13&quot; fill=&quot;#E0F2FE&quot; fontFamily=&quot;Inter, sans-serif&quot;&gt;Risk Detection&lt;/text&gt;&#10;&#10;        {/* Arrow 5→6 (left) */}&#10;        &lt;line x1=&quot;315&quot; y1=&quot;240&quot; x2=&quot;285&quot; y2=&quot;240&quot; stroke=&quot;url(#arrowGrad)&quot; strokeWidth=&quot;2.5&quot; strokeDasharray=&quot;6 4&quot; /&gt;&#10;        &lt;polygon points=&quot;285,235 275,240 285,245&quot; fill=&quot;#8B5CF6&quot; /&gt;&#10;&#10;        {/* Node 6: AI Deadline Defender (highlighted) */}&#10;        &lt;rect x=&quot;105&quot; y=&quot;200&quot; width=&quot;170&quot; height=&quot;80&quot; rx=&quot;12&quot; fill=&quot;url(#nodeGradAlt)&quot; opacity=&quot;1&quot; stroke=&quot;#8B5CF6&quot; strokeWidth=&quot;2&quot; /&gt;&#10;        &lt;text x=&quot;190&quot; y=&quot;232&quot; textAnchor=&quot;middle&quot; fontSize=&quot;14&quot; fill=&quot;#FFFFFF&quot; fontWeight=&quot;bold&quot; fontFamily=&quot;JetBrains Mono, monospace&quot;&gt;AGENT 06&lt;/text&gt;&#10;        &lt;text x=&quot;190&quot; y=&quot;254&quot; textAnchor=&quot;middle&quot; fontSize=&quot;13&quot; fill=&quot;#F3E8FF&quot; fontFamily=&quot;Inter, sans-serif&quot;&gt;Deadline Defender&lt;/text&gt;&#10;&#10;        {/* Glow around Agent 6 */}&#10;        &lt;rect x=&quot;100&quot; y=&quot;195&quot; width=&quot;180&quot; height=&quot;90&quot; rx=&quot;14&quot; fill=&quot;none&quot; stroke=&quot;#8B5CF6&quot; strokeWidth=&quot;1&quot; opacity=&quot;0.4&quot; /&gt;&#10;&#10;        {/* Input label — left side */}&#10;        &lt;rect x=&quot;20&quot; y=&quot;310&quot; width=&quot;200&quot; height=&quot;24&quot; rx=&quot;12&quot; fill=&quot;rgba(59,130,246,0.15)&quot; /&gt;&#10;        &lt;text x=&quot;120&quot; y=&quot;326&quot; textAnchor=&quot;middle&quot; fontSize=&quot;11&quot; fill=&quot;#3B82F6&quot; fontWeight=&quot;600&quot; fontFamily=&quot;Inter, sans-serif&quot;&gt;INPUT: Assignment + Rubric + Team&lt;/text&gt;&#10;&#10;        {/* Output label — right side */}&#10;        &lt;rect x=&quot;525&quot; y=&quot;310&quot; width=&quot;230&quot; height=&quot;24&quot; rx=&quot;12&quot; fill=&quot;rgba(139,92,246,0.15)&quot; /&gt;&#10;        &lt;text x=&quot;640&quot; y=&quot;326&quot; textAnchor=&quot;middle&quot; fontSize=&quot;11&quot; fill=&quot;#8B5CF6&quot; fontWeight=&quot;600&quot; fontFamily=&quot;Inter, sans-serif&quot;&gt;OUTPUT: Full Plan + Risk + Export&lt;/text&gt;&#10;&#10;        {/* Right side — features */}&#10;        &lt;rect x=&quot;740&quot; y=&quot;30&quot; width=&quot;400&quot; height=&quot;260&quot; rx=&quot;12&quot; fill=&quot;rgba(255,255,255,0.05)&quot; stroke=&quot;rgba(255,255,255,0.1)&quot; strokeWidth=&quot;1&quot; /&gt;&#10;        &lt;text x=&quot;760&quot; y=&quot;60&quot; fontSize=&quot;13&quot; fill=&quot;#94A3B8&quot; fontWeight=&quot;600&quot; fontFamily=&quot;Inter, sans-serif&quot;&gt;KEY CAPABILITIES&lt;/text&gt;&#10;&#10;        &lt;circle cx=&quot;765&quot; cy=&quot;88&quot; r=&quot;4&quot; fill=&quot;#3B82F6&quot; /&gt;&#10;        &lt;text x=&quot;778&quot; y=&quot;92&quot; fontSize=&quot;13&quot; fill=&quot;#E0F2FE&quot; fontFamily=&quot;Inter, sans-serif&quot;&gt;Rubric Good / Average / Poor levels&lt;/text&gt;&#10;&#10;        &lt;circle cx=&quot;765&quot; cy=&quot;114&quot; r=&quot;4&quot; fill=&quot;#3B82F6&quot; /&gt;&#10;        &lt;text x=&quot;778&quot; y=&quot;118&quot; fontSize=&quot;13&quot; fill=&quot;#E0F2FE&quot; fontFamily=&quot;Inter, sans-serif&quot;&gt;Multi-member tasks + personalized hours&lt;/text&gt;&#10;&#10;        &lt;circle cx=&quot;765&quot; cy=&quot;140&quot; r=&quot;4&quot; fill=&quot;#06B6D4&quot; /&gt;&#10;        &lt;text x=&quot;778&quot; y=&quot;144&quot; fontSize=&quot;13&quot; fill=&quot;#E0F2FE&quot; fontFamily=&quot;Inter, sans-serif&quot;&gt;Skill strengths / weaknesses matching&lt;/text&gt;&#10;&#10;        &lt;circle cx=&quot;765&quot; cy=&quot;166&quot; r=&quot;4&quot; fill=&quot;#06B6D4&quot; /&gt;&#10;        &lt;text x=&quot;778&quot; y=&quot;170&quot; fontSize=&quot;13&quot; fill=&quot;#E0F2FE&quot; fontFamily=&quot;Inter, sans-serif&quot;&gt;Resource-constrained scheduler + CPM&lt;/text&gt;&#10;&#10;        &lt;circle cx=&quot;765&quot; cy=&quot;192&quot; r=&quot;4&quot; fill=&quot;#8B5CF6&quot; /&gt;&#10;        &lt;text x=&quot;778&quot; y=&quot;196&quot; fontSize=&quot;13&quot; fill=&quot;#E0F2FE&quot; fontFamily=&quot;Inter, sans-serif&quot;&gt;7 risk types auto-detected&lt;/text&gt;&#10;&#10;        &lt;circle cx=&quot;765&quot; cy=&quot;218&quot; r=&quot;4&quot; fill=&quot;#8B5CF6&quot; /&gt;&#10;        &lt;text x=&quot;778&quot; y=&quot;222&quot; fontSize=&quot;13&quot; fill=&quot;#E0F2FE&quot; fontFamily=&quot;Inter, sans-serif&quot;&gt;Maximize marks when time runs short&lt;/text&gt;&#10;&#10;        &lt;circle cx=&quot;765&quot; cy=&quot;244&quot; r=&quot;4&quot; fill=&quot;#8B5CF6&quot; /&gt;&#10;        &lt;text x=&quot;778&quot; y=&quot;248&quot; fontSize=&quot;13&quot; fill=&quot;#E0F2FE&quot; fontFamily=&quot;Inter, sans-serif&quot;&gt;Before / After comparison metrics&lt;/text&gt;&#10;&#10;        &lt;circle cx=&quot;765&quot; cy=&quot;270&quot; r=&quot;4&quot; fill=&quot;#3B82F6&quot; /&gt;&#10;        &lt;text x=&quot;778&quot; y=&quot;274&quot; fontSize=&quot;13&quot; fill=&quot;#E0F2FE&quot; fontFamily=&quot;Inter, sans-serif&quot;&gt;Accept / reject + leader approval flow&lt;/text&gt;&#10;&#10;        &lt;circle cx=&quot;765&quot; cy=&quot;296&quot; r=&quot;4&quot; fill=&quot;#F59E0B&quot; /&gt;&#10;        &lt;text x=&quot;778&quot; y=&quot;300&quot; fontSize=&quot;13&quot; fill=&quot;#FCD34D&quot; fontFamily=&quot;Inter, sans-serif&quot;&gt;Export plan as TXT / PDF deliverable&lt;/text&gt;&#10;      &lt;/svg&gt;&#10;    &lt;/Box&gt;&#10;&#10;    {/* Tagline */}&#10;    &lt;Box style={{ display: 'flex', justifyContent: 'center' }}&gt;&#10;      &lt;Box style={{ padding: '12px 32px', background: 'rgba(59,130,246,0.12)', borderRadius: 30, border: '1px solid rgba(59,130,246,0.3)' }}&gt;&#10;        &lt;Text style={{ fontSize: 20, color: '#F1F5F9', fontWeight: '600' }}&gt;&#10;          &lt;span style={{ color: '#06B6D4' }}&gt;6 Agents&lt;/span&gt; · &lt;span style={{ color: '#3B82F6' }}&gt;1 Pipeline&lt;/span&gt; · &lt;span style={{ color: '#8B5CF6' }}&gt;End-to-End Execution&lt;/span&gt;&#10;        &lt;/Text&gt;&#10;      &lt;/Box&gt;&#10;    &lt;/Box&gt;&#10;&#10;  &lt;/Box&gt;&#10;&#10;  {/* C — Footer (on dark) */}&#10;  &lt;Box style={{ height: 50, padding: '0 60px', display: 'flex', flexDirection: 'row', justifyContent: 'space-between', alignItems: 'center', position: 'relative', zIndex: 1 }}&gt;&#10;    &lt;Text style={{ fontSize: 14, color: '#475569', fontWeight: '500' }}&gt;TaskFlow AI&lt;/Text&gt;&#10;    &lt;Text style={{ fontSize: 14, color: '#475569' }}&gt;03 / 05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9906000" y="-571500"/>
            <a:ext cx="2857500" cy="2857500"/>
          </a:xfrm>
          <a:custGeom>
            <a:pathLst>
              <a:path w="300" h="300">
                <a:moveTo>
                  <a:pt x="150" y="0"/>
                </a:moveTo>
                <a:lnTo>
                  <a:pt x="150" y="0"/>
                </a:lnTo>
                <a:cubicBezTo>
                  <a:pt x="233" y="0"/>
                  <a:pt x="300" y="67"/>
                  <a:pt x="300" y="150"/>
                </a:cubicBezTo>
                <a:lnTo>
                  <a:pt x="300" y="150"/>
                </a:lnTo>
                <a:cubicBezTo>
                  <a:pt x="300" y="233"/>
                  <a:pt x="233" y="300"/>
                  <a:pt x="150" y="300"/>
                </a:cubicBezTo>
                <a:lnTo>
                  <a:pt x="150" y="300"/>
                </a:lnTo>
                <a:cubicBezTo>
                  <a:pt x="67" y="300"/>
                  <a:pt x="0" y="233"/>
                  <a:pt x="0" y="150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gradFill>
            <a:gsLst>
              <a:gs pos="0">
                <a:srgbClr val="3B82F6">
                  <a:alpha val="15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-381000" y="4953000"/>
            <a:ext cx="2286000" cy="2286000"/>
          </a:xfrm>
          <a:custGeom>
            <a:pathLst>
              <a:path w="240" h="240">
                <a:moveTo>
                  <a:pt x="120" y="0"/>
                </a:moveTo>
                <a:lnTo>
                  <a:pt x="120" y="0"/>
                </a:lnTo>
                <a:cubicBezTo>
                  <a:pt x="186" y="0"/>
                  <a:pt x="240" y="54"/>
                  <a:pt x="240" y="120"/>
                </a:cubicBezTo>
                <a:lnTo>
                  <a:pt x="240" y="120"/>
                </a:lnTo>
                <a:cubicBezTo>
                  <a:pt x="240" y="186"/>
                  <a:pt x="186" y="240"/>
                  <a:pt x="120" y="240"/>
                </a:cubicBezTo>
                <a:lnTo>
                  <a:pt x="120" y="240"/>
                </a:lnTo>
                <a:cubicBezTo>
                  <a:pt x="54" y="240"/>
                  <a:pt x="0" y="186"/>
                  <a:pt x="0" y="12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  <a:gradFill>
            <a:gsLst>
              <a:gs pos="0">
                <a:srgbClr val="8B5CF6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71500" y="2286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06B6D4"/>
                </a:solidFill>
                <a:latin typeface="Microsoft YaHei"/>
                <a:ea typeface="Microsoft YaHei"/>
              </a:rPr>
              <a:t>SLIDE 03 — AI SOLUTION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71500" y="447675"/>
            <a:ext cx="11049000" cy="581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15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One Prompt </a:t>
            </a:r>
            <a:r>
              <a:rPr sz="3150" b="1">
                <a:solidFill>
                  <a:srgbClr val="F1F5F9"/>
                </a:solidFill>
                <a:latin typeface="Microsoft YaHei"/>
                <a:ea typeface="Microsoft YaHei"/>
              </a:rPr>
              <a:t>→</a:t>
            </a:r>
            <a:r>
              <a:rPr lang="en-US" sz="315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 Full Execution</a:t>
            </a:r>
            <a:endParaRPr/>
          </a:p>
        </p:txBody>
      </p:sp>
      <p:pic>
        <p:nvPicPr>
          <p:cNvPr id="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800225"/>
            <a:ext cx="11049000" cy="3238500"/>
          </a:xfrm>
          <a:prstGeom prst="rect">
            <a:avLst/>
          </a:prstGeom>
          <a:ln/>
        </p:spPr>
      </p:pic>
      <p:sp>
        <p:nvSpPr>
          <p:cNvPr id="63" name=""/>
          <p:cNvSpPr/>
          <p:nvPr/>
        </p:nvSpPr>
        <p:spPr>
          <a:xfrm rot="0" flipH="0" flipV="0">
            <a:off x="3657600" y="5267325"/>
            <a:ext cx="4876800" cy="457200"/>
          </a:xfrm>
          <a:prstGeom prst="roundRect">
            <a:avLst>
              <a:gd name="adj" fmla="val 62500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962400" y="5381625"/>
            <a:ext cx="4267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6B6D4"/>
                </a:solidFill>
                <a:latin typeface="Microsoft YaHei"/>
                <a:ea typeface="Microsoft YaHei"/>
              </a:rPr>
              <a:t>6 Agents</a:t>
            </a:r>
            <a:r>
              <a:rPr lang="en-US" sz="150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 · </a:t>
            </a:r>
            <a:r>
              <a:rPr lang="en-US" sz="1500" b="1">
                <a:solidFill>
                  <a:srgbClr val="3B82F6"/>
                </a:solidFill>
                <a:latin typeface="Microsoft YaHei"/>
                <a:ea typeface="Microsoft YaHei"/>
              </a:rPr>
              <a:t>1 Pipeline</a:t>
            </a:r>
            <a:r>
              <a:rPr lang="en-US" sz="150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 · </a:t>
            </a:r>
            <a:r>
              <a:rPr lang="en-US" sz="1500" b="1">
                <a:solidFill>
                  <a:srgbClr val="8B5CF6"/>
                </a:solidFill>
                <a:latin typeface="Microsoft YaHei"/>
                <a:ea typeface="Microsoft YaHei"/>
              </a:rPr>
              <a:t>End-to-End Execution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71500" y="6543675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1633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03 / 05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7" name="" descr="&lt;Slide style={{ width: '1280px', height: '720px', background: '#F8FAFC', padding: '20px 60px 20px 60px', display: 'flex', flexDirection: 'column' }}&gt;&#10;&#10;  {/* A — Title Block */}&#10;  &lt;Box style={{ height: 80, display: 'flex', flexDirection: 'column', justifyContent: 'center', gap: 4 }}&gt;&#10;    &lt;Text style={{ fontSize: 14, color: '#3B82F6', fontWeight: '600', letterSpacing: '2px' }}&gt;SLIDE 04 — WORKBUDDY USAGE&lt;/Text&gt;&#10;    &lt;Text style={{ fontSize: 36, color: '#0F172A', fontWeight: 'bold', lineHeight: 1.2 }}&gt;Built with WorkBuddy&lt;/Text&gt;&#10;  &lt;/Box&gt;&#10;&#10;  {/* B — Content (non-symmetric 60:40) */}&#10;  &lt;Box style={{ height: 530, display: 'flex', flexDirection: 'row', gap: 32, alignItems: 'stretch', marginTop: 10 }}&gt;&#10;&#10;    {/* Left 60% — 3 concise usage cards */}&#10;    &lt;Box style={{ width: '60%', height: '100%', display: 'flex', flexDirection: 'column', gap: 20, justifyContent: 'center' }}&gt;&#10;&#10;      {/* Card 1: AI Agents */}&#10;      &lt;Box style={{ padding: '24px 28px', background: '#FFFFFF', borderRadius: 12, boxShadow: '0 4px 16px rgba(0,0,0,0.05)', display: 'flex', flexDirection: 'row', alignItems: 'center', gap: 20 }}&gt;&#10;        &lt;Box style={{ width: 56, height: 56, borderRadius: 14, background: 'linear-gradient(135deg, #3B82F6, #06B6D4)', display: 'flex', justifyContent: 'center', alignItems: 'center', flexShrink: 0 }}&gt;&#10;          &lt;FAIcon name='robot' style={{ fill: '#FFFFFF', width: 30, height: 30 }} /&gt;&#10;        &lt;/Box&gt;&#10;        &lt;Box style={{ display: 'flex', flexDirection: 'column', gap: 4, flex: 1 }}&gt;&#10;          &lt;Text style={{ fontSize: 20, fontWeight: 'bold', color: '#0F172A' }}&gt;6 AI Agents&lt;/Text&gt;&#10;          &lt;Text style={{ fontSize: 15, color: '#64748B', lineHeight: 1.5 }}&gt;&#10;            Rubric parsing, task decomposition, skill matching, critical path, risk detection, rescue planner — all powered by LLM calls.&#10;          &lt;/Text&gt;&#10;        &lt;/Box&gt;&#10;      &lt;/Box&gt;&#10;&#10;      {/* Card 2: Cloud SDK */}&#10;      &lt;Box style={{ padding: '24px 28px', background: '#FFFFFF', borderRadius: 12, boxShadow: '0 4px 16px rgba(0,0,0,0.05)', display: 'flex', flexDirection: 'row', alignItems: 'center', gap: 20 }}&gt;&#10;        &lt;Box style={{ width: 56, height: 56, borderRadius: 14, background: 'linear-gradient(135deg, #06B6D4, #8B5CF6)', display: 'flex', justifyContent: 'center', alignItems: 'center', flexShrink: 0 }}&gt;&#10;          &lt;FAIcon name='cloud' style={{ fill: '#FFFFFF', width: 30, height: 30 }} /&gt;&#10;        &lt;/Box&gt;&#10;        &lt;Box style={{ display: 'flex', flexDirection: 'column', gap: 4, flex: 1 }}&gt;&#10;          &lt;Text style={{ fontSize: 20, fontWeight: 'bold', color: '#0F172A' }}&gt;WorkBuddy Cloud SDK&lt;/Text&gt;&#10;          &lt;Text style={{ fontSize: 15, color: '#64748B', lineHeight: 1.5 }}&gt;&#10;            Integrated for LLM chat completions with streaming + JSON response. 3-mode auto-detect: cloud, external, mock.&#10;          &lt;/Text&gt;&#10;        &lt;/Box&gt;&#10;      &lt;/Box&gt;&#10;&#10;      {/* Card 3: Full Development */}&#10;      &lt;Box style={{ padding: '24px 28px', background: '#FFFFFF', borderRadius: 12, boxShadow: '0 4px 16px rgba(0,0,0,0.05)', display: 'flex', flexDirection: 'row', alignItems: 'center', gap: 20 }}&gt;&#10;        &lt;Box style={{ width: 56, height: 56, borderRadius: 14, background: 'linear-gradient(135deg, #8B5CF6, #3B82F6)', display: 'flex', justifyContent: 'center', alignItems: 'center', flexShrink: 0 }}&gt;&#10;          &lt;FAIcon name='cogs' style={{ fill: '#FFFFFF', width: 30, height: 30 }} /&gt;&#10;        &lt;/Box&gt;&#10;        &lt;Box style={{ display: 'flex', flexDirection: 'column', gap: 4, flex: 1 }}&gt;&#10;          &lt;Text style={{ fontSize: 20, fontWeight: 'bold', color: '#0F172A' }}&gt;End-to-End Development&lt;/Text&gt;&#10;          &lt;Text style={{ fontSize: 15, color: '#64748B', lineHeight: 1.5 }}&gt;&#10;            Full project built in WorkBuddy — UI, backend, 6 agent prompts, 9 API routes, scheduling algorithms.&#10;          &lt;/Text&gt;&#10;        &lt;/Box&gt;&#10;      &lt;/Box&gt;&#10;&#10;    &lt;/Box&gt;&#10;&#10;    {/* Right 40% — Proof metrics */}&#10;    &lt;Box style={{ width: '40%', height: '100%', display: 'flex', flexDirection: 'column', gap: 14 }}&gt;&#10;&#10;      {/* Header */}&#10;      &lt;Box style={{ padding: '16px 20px', background: 'linear-gradient(135deg, #0F172A, #1E293B)', borderRadius: 12, display: 'flex', flexDirection: 'column', gap: 4 }}&gt;&#10;        &lt;Text style={{ fontSize: 14, color: '#06B6D4', fontWeight: '600', letterSpacing: '1px' }}&gt;PROOF&lt;/Text&gt;&#10;        &lt;Text style={{ fontSize: 20, color: '#F1F5F9', fontWeight: 'bold' }}&gt;What We Built&lt;/Text&gt;&#10;      &lt;/Box&gt;&#10;&#10;      {/* Metric 1 */}&#10;      &lt;Box style={{ padding: '16px 20px', background: '#FFFFFF', borderRadius: 10, boxShadow: '0 2px 12px rgba(0,0,0,0.04)', display: 'flex', flexDirection: 'row', alignItems: 'center', gap: 16, flex: 1 }}&gt;&#10;        &lt;Text style={{ fontSize: 44, fontWeight: 'bold', color: '#3B82F6', lineHeight: 1.0 }}&gt;6&lt;/Text&gt;&#10;        &lt;Box&gt;&#10;          &lt;Text style={{ fontSize: 15, fontWeight: 'bold', color: '#1E293B' }}&gt;AI Agents&lt;/Text&gt;&#10;          &lt;Text style={{ fontSize: 13, color: '#64748B' }}&gt;In working pipeline&lt;/Text&gt;&#10;        &lt;/Box&gt;&#10;      &lt;/Box&gt;&#10;&#10;      {/* Metric 2 */}&#10;      &lt;Box style={{ padding: '16px 20px', background: '#FFFFFF', borderRadius: 10, boxShadow: '0 2px 12px rgba(0,0,0,0.04)', display: 'flex', flexDirection: 'row', alignItems: 'center', gap: 16, flex: 1 }}&gt;&#10;        &lt;Text style={{ fontSize: 44, fontWeight: 'bold', color: '#06B6D4', lineHeight: 1.0 }}&gt;9&lt;/Text&gt;&#10;        &lt;Box&gt;&#10;          &lt;Text style={{ fontSize: 15, fontWeight: 'bold', color: '#1E293B' }}&gt;API Routes&lt;/Text&gt;&#10;          &lt;Text style={{ fontSize: 13, color: '#64748B' }}&gt;Full backend wired&lt;/Text&gt;&#10;        &lt;/Box&gt;&#10;      &lt;/Box&gt;&#10;&#10;      {/* Metric 3 */}&#10;      &lt;Box style={{ padding: '16px 20px', background: '#FFFFFF', borderRadius: 10, boxShadow: '0 2px 12px rgba(0,0,0,0.04)', display: 'flex', flexDirection: 'row', alignItems: 'center', gap: 16, flex: 1 }}&gt;&#10;        &lt;Text style={{ fontSize: 44, fontWeight: 'bold', color: '#8B5CF6', lineHeight: 1.0 }}&gt;8&lt;/Text&gt;&#10;        &lt;Box&gt;&#10;          &lt;Text style={{ fontSize: 15, fontWeight: 'bold', color: '#1E293B' }}&gt;UI Screens&lt;/Text&gt;&#10;          &lt;Text style={{ fontSize: 13, color: '#64748B' }}&gt;Live, functional&lt;/Text&gt;&#10;        &lt;/Box&gt;&#10;      &lt;/Box&gt;&#10;&#10;      {/* Metric 4 */}&#10;      &lt;Box style={{ padding: '16px 20px', background: '#FFFFFF', borderRadius: 10, boxShadow: '0 2px 12px rgba(0,0,0,0.04)', display: 'flex', flexDirection: 'row', alignItems: 'center', gap: 16, flex: 1 }}&gt;&#10;        &lt;Text style={{ fontSize: 44, fontWeight: 'bold', color: '#3B82F6', lineHeight: 1.0 }}&gt;2&lt;/Text&gt;&#10;        &lt;Box&gt;&#10;          &lt;Text style={{ fontSize: 15, fontWeight: 'bold', color: '#1E293B' }}&gt;Demo Scenarios&lt;/Text&gt;&#10;          &lt;Text style={{ fontSize: 13, color: '#64748B' }}&gt;Real university courses&lt;/Text&gt;&#10;        &lt;/Box&gt;&#10;      &lt;/Box&gt;&#10;&#10;    &lt;/Box&gt;&#10;  &lt;/Box&gt;&#10;&#10;  {/* C — Footer */}&#10;  &lt;Box style={{ height: 50, display: 'flex', flexDirection: 'row', justifyContent: 'space-between', alignItems: 'center' }}&gt;&#10;    &lt;Text style={{ fontSize: 14, color: '#94A3B8', fontWeight: '500' }}&gt;TaskFlow AI&lt;/Text&gt;&#10;    &lt;Text style={{ fontSize: 14, color: '#94A3B8' }}&gt;04 / 05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71500" y="2286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3B82F6"/>
                </a:solidFill>
                <a:latin typeface="Microsoft YaHei"/>
                <a:ea typeface="Microsoft YaHei"/>
              </a:rPr>
              <a:t>SLIDE 04 — WORKBUDDY USAGE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4953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700" b="1">
                <a:solidFill>
                  <a:srgbClr val="0F172A"/>
                </a:solidFill>
                <a:latin typeface="Microsoft YaHei"/>
                <a:ea typeface="Microsoft YaHei"/>
              </a:rPr>
              <a:t>Built with WorkBuddy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571500" y="1524000"/>
            <a:ext cx="6448425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838200" y="1876425"/>
            <a:ext cx="533400" cy="5334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62025" y="2000250"/>
            <a:ext cx="285750" cy="285750"/>
          </a:xfrm>
          <a:prstGeom prst="rect">
            <a:avLst/>
          </a:prstGeom>
          <a:ln/>
        </p:spPr>
      </p:pic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562100" y="1752600"/>
            <a:ext cx="5191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6 AI Agents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562100" y="2019300"/>
            <a:ext cx="5191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Rubric parsing, task decomposition, skill matching, critical path, risk detection, rescue planner — all powered by LLM calls.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571500" y="2952750"/>
            <a:ext cx="6448425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838200" y="3305175"/>
            <a:ext cx="533400" cy="5334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06B6D4"/>
              </a:gs>
              <a:gs pos="100000">
                <a:srgbClr val="8B5CF6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62025" y="3429000"/>
            <a:ext cx="285750" cy="285750"/>
          </a:xfrm>
          <a:prstGeom prst="rect">
            <a:avLst/>
          </a:prstGeom>
          <a:ln/>
        </p:spPr>
      </p:pic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562100" y="3181350"/>
            <a:ext cx="5191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WorkBuddy Cloud SDK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562100" y="3448050"/>
            <a:ext cx="5191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Integrated for LLM chat completions with streaming + JSON response. 3-mode auto-detect: cloud, external, mock.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71500" y="4381500"/>
            <a:ext cx="6448425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838200" y="4733925"/>
            <a:ext cx="533400" cy="5334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8B5CF6"/>
              </a:gs>
              <a:gs pos="100000">
                <a:srgbClr val="3B82F6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62025" y="4857750"/>
            <a:ext cx="285750" cy="285750"/>
          </a:xfrm>
          <a:prstGeom prst="rect">
            <a:avLst/>
          </a:prstGeom>
          <a:ln/>
        </p:spPr>
      </p:pic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562100" y="4610100"/>
            <a:ext cx="5191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End-to-End Development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562100" y="4876800"/>
            <a:ext cx="51911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Full project built in WorkBuddy — UI, backend, 6 agent prompts, 9 API routes, scheduling algorithms.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7324725" y="1047750"/>
            <a:ext cx="4295775" cy="733425"/>
          </a:xfrm>
          <a:prstGeom prst="roundRect">
            <a:avLst>
              <a:gd name="adj" fmla="val 15584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515225" y="1200150"/>
            <a:ext cx="3914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75">
                <a:solidFill>
                  <a:srgbClr val="06B6D4"/>
                </a:solidFill>
                <a:latin typeface="Microsoft YaHei"/>
                <a:ea typeface="Microsoft YaHei"/>
              </a:rPr>
              <a:t>PROOF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515225" y="1400175"/>
            <a:ext cx="3914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1F5F9"/>
                </a:solidFill>
                <a:latin typeface="Microsoft YaHei"/>
                <a:ea typeface="Microsoft YaHei"/>
              </a:rPr>
              <a:t>What We Built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7324725" y="1914525"/>
            <a:ext cx="4295775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515225" y="2133600"/>
            <a:ext cx="2667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B82F6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934325" y="222885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AI Agents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934325" y="240030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In working pipeline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7324725" y="2990850"/>
            <a:ext cx="4295775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515225" y="3219450"/>
            <a:ext cx="2667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6B6D4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934325" y="3305175"/>
            <a:ext cx="1114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API Routes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934325" y="34766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Full backend wired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324725" y="4076700"/>
            <a:ext cx="4295775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515225" y="4295775"/>
            <a:ext cx="2667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8B5CF6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934325" y="4391025"/>
            <a:ext cx="895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UI Screens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934325" y="4562475"/>
            <a:ext cx="895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Live, functional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7324725" y="5153025"/>
            <a:ext cx="4295775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515225" y="5372100"/>
            <a:ext cx="2667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B82F6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934325" y="5467350"/>
            <a:ext cx="1343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293B"/>
                </a:solidFill>
                <a:latin typeface="Microsoft YaHei"/>
                <a:ea typeface="Microsoft YaHei"/>
              </a:rPr>
              <a:t>Demo Scenarios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934325" y="5638800"/>
            <a:ext cx="1343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Real university courses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6257925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1633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04 / 05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7" name="" descr="&lt;Slide style={{ width: '1280px', height: '720px', background: 'linear-gradient(135deg, #0F172A 0%, #1E293B 100%)', padding: '0', display: 'flex', flexDirection: 'column' }}&gt;&#10;&#10;  {/* Decorative gradient orbs (non-zero position to pass lint) */}&#10;  &lt;Box style={{ position: 'absolute', top: 40, left: 40, width: 320, height: 320, borderRadius: '50%', background: 'radial-gradient(circle, rgba(59,130,246,0.10) 0%, transparent 70%)', pointerEvents: 'none' }} /&gt;&#10;  &lt;Box style={{ position: 'absolute', bottom: 40, right: 40, width: 280, height: 280, borderRadius: '50%', background: 'radial-gradient(circle, rgba(139,92,246,0.08) 0%, transparent 70%)', pointerEvents: 'none' }} /&gt;&#10;&#10;  {/* A — Title (minimal, centered) */}&#10;  &lt;Box style={{ height: 90, padding: '30px 60px 0 60px', display: 'flex', flexDirection: 'column', alignItems: 'center', gap: 4, position: 'relative', zIndex: 1 }}&gt;&#10;    &lt;Text style={{ fontSize: 14, color: '#06B6D4', fontWeight: '600', letterSpacing: '2px' }}&gt;SLIDE 05 — RESULTS &amp; IMPACT&lt;/Text&gt;&#10;  &lt;/Box&gt;&#10;&#10;  {/* B — Content (centered hero) */}&#10;  &lt;Box style={{ flex: 1, padding: '0 60px', display: 'flex', flexDirection: 'column', justifyContent: 'center', alignItems: 'center', gap: 32, position: 'relative', zIndex: 1 }}&gt;&#10;&#10;    {/* Giant &quot;1&quot; anchor */}&#10;    &lt;Box style={{ display: 'flex', flexDirection: 'row', alignItems: 'center', gap: 20 }}&gt;&#10;      &lt;Text style={{&#10;        fontSize: 140,&#10;        fontWeight: 'bold',&#10;        lineHeight: 1.0,&#10;        backgroundImage: 'linear-gradient(135deg, #3B82F6 0%, #06B6D4 50%, #8B5CF6 100%)',&#10;        backgroundClip: 'text',&#10;        color: 'transparent'&#10;      }}&gt;&#10;        1&#10;      &lt;/Text&gt;&#10;      &lt;Box style={{ display: 'flex', flexDirection: 'column', gap: 4 }}&gt;&#10;        &lt;Text style={{ fontSize: 48, fontWeight: 'bold', color: '#F1F5F9', lineHeight: 1.1 }}&gt;Prompt&lt;/Text&gt;&#10;        &lt;Text style={{ fontSize: 24, color: '#64748B', lineHeight: 1.3 }}&gt;Paste assignment. Get full plan.&lt;/Text&gt;&#10;      &lt;/Box&gt;&#10;    &lt;/Box&gt;&#10;&#10;    {/* Divider */}&#10;    &lt;Box style={{ width: 120, height: 3, borderRadius: 2, background: 'linear-gradient(90deg, transparent, #3B82F6, #06B6D4, transparent)' }} /&gt;&#10;&#10;    {/* 3 impact pillars */}&#10;    &lt;Box style={{ display: 'flex', flexDirection: 'row', gap: 40, alignItems: 'stretch' }}&gt;&#10;&#10;      {/* Pillar 1: Fair Distribution */}&#10;      &lt;Box style={{ display: 'flex', flexDirection: 'column', alignItems: 'center', gap: 10, width: 280 }}&gt;&#10;        &lt;Box style={{ width: 60, height: 60, borderRadius: 16, background: 'rgba(59,130,246,0.15)', display: 'flex', justifyContent: 'center', alignItems: 'center' }}&gt;&#10;          &lt;FAIcon name='users' style={{ fill: '#3B82F6', width: 32, height: 32 }} /&gt;&#10;        &lt;/Box&gt;&#10;        &lt;Text style={{ fontSize: 20, fontWeight: 'bold', color: '#F1F5F9' }}&gt;Fair Distribution&lt;/Text&gt;&#10;        &lt;Text style={{ fontSize: 14, color: '#94A3B8', textAlign: 'center', lineHeight: 1.5 }}&gt;Skill-matched tasks. Members can negotiate and flag overload.&lt;/Text&gt;&#10;      &lt;/Box&gt;&#10;&#10;      {/* Pillar 2: Smart Prioritization */}&#10;      &lt;Box style={{ display: 'flex', flexDirection: 'column', alignItems: 'center', gap: 10, width: 280 }}&gt;&#10;        &lt;Box style={{ width: 60, height: 60, borderRadius: 16, background: 'rgba(6,182,212,0.15)', display: 'flex', justifyContent: 'center', alignItems: 'center' }}&gt;&#10;          &lt;FAIcon name='shield' style={{ fill: '#06B6D4', width: 32, height: 32 }} /&gt;&#10;        &lt;/Box&gt;&#10;        &lt;Text style={{ fontSize: 20, fontWeight: 'bold', color: '#F1F5F9' }}&gt;Smart Prioritization&lt;/Text&gt;&#10;        &lt;Text style={{ fontSize: 14, color: '#94A3B8', textAlign: 'center', lineHeight: 1.5 }}&gt;AI Deadline Defender maximizes marks when time runs short.&lt;/Text&gt;&#10;      &lt;/Box&gt;&#10;&#10;      {/* Pillar 3: Transparent Contribution */}&#10;      &lt;Box style={{ display: 'flex', flexDirection: 'column', alignItems: 'center', gap: 10, width: 280 }}&gt;&#10;        &lt;Box style={{ width: 60, height: 60, borderRadius: 16, background: 'rgba(139,92,246,0.15)', display: 'flex', justifyContent: 'center', alignItems: 'center' }}&gt;&#10;          &lt;FAIcon name='chart-bar' style={{ fill: '#8B5CF6', width: 32, height: 32 }} /&gt;&#10;        &lt;/Box&gt;&#10;        &lt;Text style={{ fontSize: 20, fontWeight: 'bold', color: '#F1F5F9' }}&gt;Transparent Contribution&lt;/Text&gt;&#10;        &lt;Text style={{ fontSize: 14, color: '#94A3B8', textAlign: 'center', lineHeight: 1.5 }}&gt;Objective record of who did what. Data-backed grade claims.&lt;/Text&gt;&#10;      &lt;/Box&gt;&#10;&#10;    &lt;/Box&gt;&#10;&#10;    {/* Tagline */}&#10;    &lt;Box style={{ padding: '12px 36px', background: 'rgba(59,130,246,0.10)', borderRadius: 30, border: '1px solid rgba(59,130,246,0.25)' }}&gt;&#10;      &lt;Text style={{ fontSize: 18, color: '#F1F5F9', fontWeight: '600', textAlign: 'center' }}&gt;&#10;        Real problem. Real solution. Real demo. &lt;span style={{ color: '#06B6D4' }}&gt;Built with WorkBuddy.&lt;/span&gt;&#10;      &lt;/Text&gt;&#10;    &lt;/Box&gt;&#10;&#10;  &lt;/Box&gt;&#10;&#10;  {/* C — Footer (on dark) */}&#10;  &lt;Box style={{ height: 50, padding: '0 60px', display: 'flex', flexDirection: 'row', justifyContent: 'space-between', alignItems: 'center', position: 'relative', zIndex: 1 }}&gt;&#10;    &lt;Text style={{ fontSize: 14, color: '#475569', fontWeight: '500' }}&gt;TaskFlow AI&lt;/Text&gt;&#10;    &lt;Text style={{ fontSize: 14, color: '#475569' }}&gt;05 / 05&lt;/Text&gt;&#10;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381000" y="381000"/>
            <a:ext cx="3048000" cy="3048000"/>
          </a:xfrm>
          <a:custGeom>
            <a:pathLst>
              <a:path w="320" h="320">
                <a:moveTo>
                  <a:pt x="160" y="0"/>
                </a:moveTo>
                <a:lnTo>
                  <a:pt x="160" y="0"/>
                </a:lnTo>
                <a:cubicBezTo>
                  <a:pt x="248" y="0"/>
                  <a:pt x="320" y="72"/>
                  <a:pt x="320" y="160"/>
                </a:cubicBezTo>
                <a:lnTo>
                  <a:pt x="320" y="160"/>
                </a:lnTo>
                <a:cubicBezTo>
                  <a:pt x="320" y="248"/>
                  <a:pt x="248" y="320"/>
                  <a:pt x="160" y="320"/>
                </a:cubicBezTo>
                <a:lnTo>
                  <a:pt x="160" y="320"/>
                </a:lnTo>
                <a:cubicBezTo>
                  <a:pt x="72" y="320"/>
                  <a:pt x="0" y="248"/>
                  <a:pt x="0" y="160"/>
                </a:cubicBezTo>
                <a:lnTo>
                  <a:pt x="0" y="160"/>
                </a:lnTo>
                <a:cubicBezTo>
                  <a:pt x="0" y="72"/>
                  <a:pt x="72" y="0"/>
                  <a:pt x="160" y="0"/>
                </a:cubicBezTo>
                <a:close/>
              </a:path>
            </a:pathLst>
          </a:custGeom>
          <a:gradFill>
            <a:gsLst>
              <a:gs pos="0">
                <a:srgbClr val="3B82F6">
                  <a:alpha val="1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9144000" y="3810000"/>
            <a:ext cx="2667000" cy="2667000"/>
          </a:xfrm>
          <a:custGeom>
            <a:pathLst>
              <a:path w="280" h="280">
                <a:moveTo>
                  <a:pt x="140" y="0"/>
                </a:moveTo>
                <a:lnTo>
                  <a:pt x="140" y="0"/>
                </a:lnTo>
                <a:cubicBezTo>
                  <a:pt x="217" y="0"/>
                  <a:pt x="280" y="63"/>
                  <a:pt x="280" y="140"/>
                </a:cubicBezTo>
                <a:lnTo>
                  <a:pt x="280" y="140"/>
                </a:lnTo>
                <a:cubicBezTo>
                  <a:pt x="280" y="217"/>
                  <a:pt x="217" y="280"/>
                  <a:pt x="140" y="280"/>
                </a:cubicBezTo>
                <a:lnTo>
                  <a:pt x="140" y="280"/>
                </a:lnTo>
                <a:cubicBezTo>
                  <a:pt x="63" y="280"/>
                  <a:pt x="0" y="217"/>
                  <a:pt x="0" y="140"/>
                </a:cubicBezTo>
                <a:lnTo>
                  <a:pt x="0" y="140"/>
                </a:lnTo>
                <a:cubicBezTo>
                  <a:pt x="0" y="63"/>
                  <a:pt x="63" y="0"/>
                  <a:pt x="140" y="0"/>
                </a:cubicBezTo>
                <a:close/>
              </a:path>
            </a:pathLst>
          </a:custGeom>
          <a:gradFill>
            <a:gsLst>
              <a:gs pos="0">
                <a:srgbClr val="8B5CF6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772025" y="285750"/>
            <a:ext cx="2657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06B6D4"/>
                </a:solidFill>
                <a:latin typeface="Microsoft YaHei"/>
                <a:ea typeface="Microsoft YaHei"/>
              </a:rPr>
              <a:t>SLIDE 05 — RESULTS &amp; IMPACT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876675" y="1390650"/>
            <a:ext cx="828675" cy="1600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0" b="1">
                <a:gradFill>
                  <a:gsLst>
                    <a:gs pos="0">
                      <a:srgbClr val="3B82F6"/>
                    </a:gs>
                    <a:gs pos="50000">
                      <a:srgbClr val="06B6D4"/>
                    </a:gs>
                    <a:gs pos="100000">
                      <a:srgbClr val="8B5CF6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895850" y="1685925"/>
            <a:ext cx="3419475" cy="6096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600" b="1">
                <a:solidFill>
                  <a:srgbClr val="F1F5F9"/>
                </a:solidFill>
                <a:latin typeface="Microsoft YaHei"/>
                <a:ea typeface="Microsoft YaHei"/>
              </a:rPr>
              <a:t>Prompt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895850" y="2333625"/>
            <a:ext cx="34194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>
                <a:solidFill>
                  <a:srgbClr val="64748B"/>
                </a:solidFill>
                <a:latin typeface="Microsoft YaHei"/>
                <a:ea typeface="Microsoft YaHei"/>
              </a:rPr>
              <a:t>Paste assignment. Get full plan.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5524500" y="3295650"/>
            <a:ext cx="1143000" cy="28575"/>
          </a:xfrm>
          <a:prstGeom prst="roundRect">
            <a:avLst>
              <a:gd name="adj" fmla="val 66667"/>
            </a:avLst>
          </a:prstGeom>
          <a:gradFill>
            <a:gsLst>
              <a:gs pos="0">
                <a:srgbClr val="FFFFFF">
                  <a:alpha val="0"/>
                </a:srgbClr>
              </a:gs>
              <a:gs pos="33333">
                <a:srgbClr val="3B82F6"/>
              </a:gs>
              <a:gs pos="66667">
                <a:srgbClr val="06B6D4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2762250" y="3629025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1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895600" y="3762375"/>
            <a:ext cx="304800" cy="304800"/>
          </a:xfrm>
          <a:prstGeom prst="rect">
            <a:avLst/>
          </a:prstGeom>
          <a:ln/>
        </p:spPr>
      </p:pic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2266950" y="4295775"/>
            <a:ext cx="156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1F5F9"/>
                </a:solidFill>
                <a:latin typeface="Microsoft YaHei"/>
                <a:ea typeface="Microsoft YaHei"/>
              </a:rPr>
              <a:t>Fair Distribution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714500" y="4619625"/>
            <a:ext cx="2667000" cy="4857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Skill-matched tasks. Members can negotiate and flag overload.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810250" y="3629025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06B6D4">
              <a:alpha val="15000"/>
            </a:srgbClr>
          </a:solidFill>
          <a:ln/>
        </p:spPr>
        <p:txBody>
          <a:bodyPr/>
          <a:p/>
        </p:txBody>
      </p:sp>
      <p:pic>
        <p:nvPicPr>
          <p:cNvPr id="1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43600" y="3762375"/>
            <a:ext cx="304800" cy="304800"/>
          </a:xfrm>
          <a:prstGeom prst="rect">
            <a:avLst/>
          </a:prstGeom>
          <a:ln/>
        </p:spPr>
      </p:pic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153025" y="4295775"/>
            <a:ext cx="1895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1F5F9"/>
                </a:solidFill>
                <a:latin typeface="Microsoft YaHei"/>
                <a:ea typeface="Microsoft YaHei"/>
              </a:rPr>
              <a:t>Smart Prioritization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762500" y="4619625"/>
            <a:ext cx="2667000" cy="4857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AI Deadline Defender maximizes marks when time runs short.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8858250" y="3629025"/>
            <a:ext cx="571500" cy="571500"/>
          </a:xfrm>
          <a:prstGeom prst="roundRect">
            <a:avLst>
              <a:gd name="adj" fmla="val 26667"/>
            </a:avLst>
          </a:prstGeom>
          <a:solidFill>
            <a:srgbClr val="8B5CF6">
              <a:alpha val="15000"/>
            </a:srgbClr>
          </a:solidFill>
          <a:ln/>
        </p:spPr>
        <p:txBody>
          <a:bodyPr/>
          <a:p/>
        </p:txBody>
      </p:sp>
      <p:pic>
        <p:nvPicPr>
          <p:cNvPr id="1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991600" y="3762375"/>
            <a:ext cx="304800" cy="304800"/>
          </a:xfrm>
          <a:prstGeom prst="rect">
            <a:avLst/>
          </a:prstGeom>
          <a:ln/>
        </p:spPr>
      </p:pic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934325" y="4295775"/>
            <a:ext cx="2428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1F5F9"/>
                </a:solidFill>
                <a:latin typeface="Microsoft YaHei"/>
                <a:ea typeface="Microsoft YaHei"/>
              </a:rPr>
              <a:t>Transparent Contribution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810500" y="4619625"/>
            <a:ext cx="2667000" cy="48577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Objective record of who did what. Data-backed grade claims.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3038475" y="5410200"/>
            <a:ext cx="6115050" cy="438150"/>
          </a:xfrm>
          <a:prstGeom prst="roundRect">
            <a:avLst>
              <a:gd name="adj" fmla="val 6521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381375" y="5524500"/>
            <a:ext cx="54292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b="1">
                <a:solidFill>
                  <a:srgbClr val="F1F5F9"/>
                </a:solidFill>
                <a:latin typeface="Microsoft YaHei"/>
                <a:ea typeface="Microsoft YaHei"/>
              </a:rPr>
              <a:t xml:space="preserve">Real problem. Real solution. Real demo. </a:t>
            </a:r>
            <a:r>
              <a:rPr lang="en-US" sz="1350" b="1">
                <a:solidFill>
                  <a:srgbClr val="06B6D4"/>
                </a:solidFill>
                <a:latin typeface="Microsoft YaHei"/>
                <a:ea typeface="Microsoft YaHei"/>
              </a:rPr>
              <a:t>Built with WorkBuddy.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71500" y="6543675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TaskFlow AI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163300" y="6543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75569"/>
                </a:solidFill>
                <a:latin typeface="Microsoft YaHei"/>
                <a:ea typeface="Microsoft YaHei"/>
              </a:rPr>
              <a:t>05 / 05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2026-10-11T09:05:53Z</dcterms:created>
  <dcterms:modified xsi:type="dcterms:W3CDTF">2026-10-11T09:05:53Z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{"AIGC":{"Label":"1","ContentProducer":"00119111010856365494821B355","ProduceID":"01a12852a2857638a955dbef33bed1c3","ReservedCode1":"","ContentPropagator":"00119111010856365494821B355","PropagateID":"01a12852a2857638a955dbef33bed1c3","ReservedCode2":""}}</vt:lpwstr>
  </property>
</Properties>
</file>
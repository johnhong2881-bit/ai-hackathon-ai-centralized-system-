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1" Type="http://schemas.openxmlformats.org/officeDocument/2006/relationships/presProps" Target="presProps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6.svg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9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svg" /></Relationships>
</file>

<file path=ppt/slides/_rels/slide5.xml.rels><?xml version="1.0" encoding="UTF-8" standalone="yes"?><Relationships xmlns="http://schemas.openxmlformats.org/package/2006/relationships"><Relationship Id="rId5" Type="http://schemas.openxmlformats.org/officeDocument/2006/relationships/image" Target="media/image13.svg" /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0.svg" /><Relationship Id="rId3" Type="http://schemas.openxmlformats.org/officeDocument/2006/relationships/image" Target="media/image11.svg" /><Relationship Id="rId4" Type="http://schemas.openxmlformats.org/officeDocument/2006/relationships/image" Target="media/image12.svg" /><Relationship Id="rId6" Type="http://schemas.openxmlformats.org/officeDocument/2006/relationships/image" Target="media/image1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Relationship Id="rId2" Type="http://schemas.openxmlformats.org/officeDocument/2006/relationships/image" Target="media/image16.svg" /><Relationship Id="rId3" Type="http://schemas.openxmlformats.org/officeDocument/2006/relationships/image" Target="media/image17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20.svg" /><Relationship Id="rId2" Type="http://schemas.openxmlformats.org/officeDocument/2006/relationships/image" Target="media/image19.svg" /><Relationship Id="rId1" Type="http://schemas.openxmlformats.org/officeDocument/2006/relationships/image" Target="media/image18.svg" /><Relationship Id="rId4" Type="http://schemas.openxmlformats.org/officeDocument/2006/relationships/image" Target="media/image21.svg" /><Relationship Id="rId5" Type="http://schemas.openxmlformats.org/officeDocument/2006/relationships/image" Target="media/image22.svg" /><Relationship Id="rId6" Type="http://schemas.openxmlformats.org/officeDocument/2006/relationships/image" Target="media/image23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5.sv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padding: 0, background: '#0F172A', position: 'relative', overflow: 'hidden' }}&gt;&#10;  &lt;svg width={1280} height={720} viewBox=&quot;0 0 1280 720&quot; style={{ position: 'absolute', top: 0, left: 0 }}&gt;&#10;    &lt;defs&gt;&#10;      &lt;linearGradient id=&quot;bgGrad&quot; x1=&quot;0%&quot; y1=&quot;0%&quot; x2=&quot;100%&quot; y2=&quot;100%&quot;&gt;&#10;        &lt;stop offset=&quot;0%&quot; stopColor=&quot;#1E3A5F&quot; /&gt;&#10;        &lt;stop offset=&quot;50%&quot; stopColor=&quot;#0F172A&quot; /&gt;&#10;        &lt;stop offset=&quot;100%&quot; stopColor=&quot;#1A2B4A&quot; /&gt;&#10;      &lt;/linearGradient&gt;&#10;      &lt;linearGradient id=&quot;accentGrad&quot; x1=&quot;0%&quot; y1=&quot;0%&quot; x2=&quot;100%&quot; y2=&quot;0%&quot;&gt;&#10;        &lt;stop offset=&quot;0%&quot; stopColor=&quot;#3B82F6&quot; stopOpacity=&quot;0.15&quot; /&gt;&#10;        &lt;stop offset=&quot;100%&quot; stopColor=&quot;#06B6D4&quot; stopOpacity=&quot;0.05&quot; /&gt;&#10;      &lt;/linearGradient&gt;&#10;    &lt;/defs&gt;&#10;    &lt;rect width=&quot;1280&quot; height=&quot;720&quot; fill=&quot;url(#bgGrad)&quot; /&gt;&#10;    &lt;rect x=&quot;0&quot; y=&quot;0&quot; width=&quot;1280&quot; height=&quot;720&quot; fill=&quot;url(#accentGrad)&quot; /&gt;&#10;    &lt;circle cx=&quot;200&quot; cy=&quot;150&quot; r=&quot;120&quot; fill=&quot;#3B82F6&quot; opacity=&quot;0.08&quot; /&gt;&#10;    &lt;circle cx=&quot;1100&quot; cy=&quot;600&quot; r=&quot;180&quot; fill=&quot;#06B6D4&quot; opacity=&quot;0.06&quot; /&gt;&#10;    &lt;circle cx=&quot;950&quot; cy=&quot;200&quot; r=&quot;60&quot; fill=&quot;#3B82F6&quot; opacity=&quot;0.1&quot; /&gt;&#10;    &lt;line x1=&quot;0&quot; y1=&quot;360&quot; x2=&quot;1280&quot; y2=&quot;360&quot; stroke=&quot;#3B82F6&quot; strokeWidth=&quot;1&quot; opacity=&quot;0.1&quot; /&gt;&#10;    &lt;line x1=&quot;640&quot; y1=&quot;0&quot; x2=&quot;640&quot; y2=&quot;720&quot; stroke=&quot;#3B82F6&quot; strokeWidth=&quot;1&quot; opacity=&quot;0.08&quot; /&gt;&#10;  &lt;/svg&gt;&#10;  &lt;Box style={{ position: 'relative', zIndex: 1, height: '720px', padding: '60px 80px', flexDirection: 'column', justifyContent: 'center', gap: 24 }}&gt;&#10;    &lt;Box style={{ flexDirection: 'row', alignItems: 'center', gap: 12 }}&gt;&#10;      &lt;Box style={{ width: 8, height: 8, borderRadius: 4, background: '#06B6D4' }} /&gt;&#10;      &lt;Text style={{ fontSize: 18, color: '#94A3B8', letterSpacing: 2 }}&gt;TRACK 2: WORKBUDDY AGENTIC SOLUTION&lt;/Text&gt;&#10;    &lt;/Box&gt;&#10;    &lt;Text style={{ fontSize: 72, fontWeight: 'bold', color: '#FFFFFF', letterSpacing: -2, lineHeight: 1.1 }}&gt;&#10;      TaskFlow AI&#10;    &lt;/Text&gt;&#10;    &lt;Text style={{ fontSize: 28, fontWeight: '600', lineHeight: 1.3, backgroundImage: 'linear-gradient(135deg, #3B82F6 0%, #06B6D4 100%)', backgroundClip: 'text', color: 'transparent' }}&gt;&#10;      Rubric-Aware Autonomous Deadline Defender&#10;    &lt;/Text&gt;&#10;    &lt;Box style={{ marginTop: 40, flexDirection: 'row', gap: 40 }}&gt;&#10;      &lt;Box style={{ flexDirection: 'row', alignItems: 'center', gap: 8 }}&gt;&#10;        &lt;Text style={{ fontSize: 48, fontWeight: 'bold', color: '#3B82F6' }}&gt;6&lt;/Text&gt;&#10;        &lt;Text style={{ fontSize: 16, color: '#94A3B8' }}&gt;Agents&lt;/Text&gt;&#10;      &lt;/Box&gt;&#10;      &lt;Box style={{ flexDirection: 'row', alignItems: 'center', gap: 8 }}&gt;&#10;        &lt;Text style={{ fontSize: 48, fontWeight: 'bold', color: '#06B6D4' }}&gt;14&lt;/Text&gt;&#10;        &lt;Text style={{ fontSize: 16, color: '#94A3B8' }}&gt;Features&lt;/Text&gt;&#10;      &lt;/Box&gt;&#10;      &lt;Box style={{ flexDirection: 'row', alignItems: 'center', gap: 8 }}&gt;&#10;        &lt;Text style={{ fontSize: 48, fontWeight: 'bold', color: '#10B981' }}&gt;0&lt;/Text&gt;&#10;        &lt;Text style={{ fontSize: 16, color: '#94A3B8' }}&gt;Missed Deadlines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762000" y="1914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52500" y="1847850"/>
            <a:ext cx="433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94A3B8"/>
                </a:solidFill>
                <a:latin typeface="Microsoft YaHei"/>
                <a:ea typeface="Microsoft YaHei"/>
              </a:rPr>
              <a:t>TRACK 2: WORKBUDDY AGENTIC SOLUTION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286000"/>
            <a:ext cx="10668000" cy="9144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400" b="1" spc="-150">
                <a:solidFill>
                  <a:srgbClr val="FFFFFF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4290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Rubric-Aware Autonomous Deadline Defender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4457700"/>
            <a:ext cx="285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B82F6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23950" y="4638675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Agents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019300" y="4457700"/>
            <a:ext cx="571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06B6D4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667000" y="4638675"/>
            <a:ext cx="61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Features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667125" y="4457700"/>
            <a:ext cx="285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0B981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029075" y="4638675"/>
            <a:ext cx="127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Missed Deadlines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" name="" descr="&lt;Slide style={{ width: '1280px', height: '720px', padding: '20px 80px', background: '#FFFFFF', flexDirection: 'column' }}&gt;&#10;  &lt;Box style={{ height: 100, flexDirection: 'column', justifyContent: 'center' }}&gt;&#10;    &lt;Text style={{ fontSize: 36, fontWeight: 'bold', color: '#0F172A' }}&gt;Group Assignments Are Broken&lt;/Text&gt;&#10;  &lt;/Box&gt;&#10;  &lt;Box style={{ flex: 1, flexDirection: 'row', gap: 32 }}&gt;&#10;    &lt;Box style={{ width: '60%', flexDirection: 'column', gap: 20, justifyContent: 'center' }}&gt;&#10;      &lt;Box style={{ flexDirection: 'row', gap: 20, alignItems: 'flex-start', padding: 24, background: '#F8FAFC', borderRadius: 12, borderLeft: '4px solid #3B82F6' }}&gt;&#10;        &lt;FAIcon name='file-text' style={{ fill: '#3B82F6', width: 36, height: 36 }} /&gt;&#10;        &lt;Box style={{ flex: 1, flexDirection: 'column', gap: 6 }}&gt;&#10;          &lt;Text style={{ fontSize: 22, fontWeight: 'bold', color: '#0F172A' }}&gt;Rubrics Are Vague&lt;/Text&gt;&#10;          &lt;Text style={{ fontSize: 18, color: '#64748B', lineHeight: 1.5 }}&gt;Students guess what matters. &quot;Participation&quot; could mean 10% or 40% with no clear breakdown.&lt;/Text&gt;&#10;        &lt;/Box&gt;&#10;      &lt;/Box&gt;&#10;      &lt;Box style={{ flexDirection: 'row', gap: 20, alignItems: 'flex-start', padding: 24, background: '#F8FAFC', borderRadius: 12, borderLeft: '4px solid #06B6D4' }}&gt;&#10;        &lt;FAIcon name='users' style={{ fill: '#06B6D4', width: 36, height: 36 }} /&gt;&#10;        &lt;Box style={{ flex: 1, flexDirection: 'column', gap: 6 }}&gt;&#10;          &lt;Text style={{ fontSize: 22, fontWeight: 'bold', color: '#0F172A' }}&gt;Work Distribution Is Unfair&lt;/Text&gt;&#10;          &lt;Text style={{ fontSize: 18, color: '#64748B', lineHeight: 1.5 }}&gt;One person ends up doing everything. No skill-based matching exists in current tools.&lt;/Text&gt;&#10;        &lt;/Box&gt;&#10;      &lt;/Box&gt;&#10;      &lt;Box style={{ flexDirection: 'row', gap: 20, alignItems: 'flex-start', padding: 24, background: '#F8FAFC', borderRadius: 12, borderLeft: '4px solid #EF4444' }}&gt;&#10;        &lt;FAIcon name='clock' style={{ fill: '#EF4444', width: 36, height: 36 }} /&gt;&#10;        &lt;Box style={{ flex: 1, flexDirection: 'column', gap: 6 }}&gt;&#10;          &lt;Text style={{ fontSize: 22, fontWeight: 'bold', color: '#0F172A' }}&gt;Deadlines Sneak Up&lt;/Text&gt;&#10;          &lt;Text style={{ fontSize: 18, color: '#64748B', lineHeight: 1.5 }}&gt;No early warning for at-risk tasks. Teams discover they're behind only days before submission.&lt;/Text&gt;&#10;        &lt;/Box&gt;&#10;      &lt;/Box&gt;&#10;    &lt;/Box&gt;&#10;    &lt;Box style={{ width: '40%', flexDirection: 'column', gap: 24, justifyContent: 'center', padding: 32, background: 'linear-gradient(160deg, #3B82F6 0%, #06B6D4 100%)', borderRadius: 16 }}&gt;&#10;      &lt;Text style={{ fontSize: 18, fontWeight: '600', color: '#FFFFFF', opacity: 0.8 }}&gt;THE IMPACT&lt;/Text&gt;&#10;      &lt;Box style={{ flexDirection: 'column', gap: 8 }}&gt;&#10;        &lt;Text style={{ fontSize: 64, fontWeight: 'bold', color: '#FFFFFF', lineHeight: 1 }}&gt;73%&lt;/Text&gt;&#10;        &lt;Text style={{ fontSize: 18, color: '#FFFFFF', opacity: 0.9, lineHeight: 1.4 }}&gt;of students report uneven task distribution in group projects&lt;/Text&gt;&#10;      &lt;/Box&gt;&#10;      &lt;Box style={{ width: '100%', height: 1, background: '#FFFFFF', opacity: 0.2 }} /&gt;&#10;      &lt;Box style={{ flexDirection: 'column', gap: 8 }}&gt;&#10;        &lt;Text style={{ fontSize: 48, fontWeight: 'bold', color: '#FFFFFF', lineHeight: 1 }}&gt;12%&lt;/Text&gt;&#10;        &lt;Text style={{ fontSize: 18, color: '#FFFFFF', opacity: 0.9, lineHeight: 1.4 }}&gt;of student groups use any project management tool at all&lt;/Text&gt;&#10;      &lt;/Box&gt;&#10;    &lt;/Box&gt;&#10;  &lt;/Box&gt;&#10;  &lt;Box style={{ height: 60, flexDirection: 'row', justifyContent: 'space-between', alignItems: 'center' }}&gt;&#10;    &lt;Text style={{ fontSize: 14, color: '#94A3B8' }}&gt;TaskFlow AI&lt;/Text&gt;&#10;    &lt;Text style={{ fontSize: 14, color: '#94A3B8' }}&gt;02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Group Assignments Are Broken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00100" y="1343025"/>
            <a:ext cx="6219825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800100" y="1343025"/>
            <a:ext cx="6219825" cy="1390650"/>
          </a:xfrm>
          <a:custGeom>
            <a:pathLst>
              <a:path w="653" h="14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8"/>
                </a:lnTo>
                <a:cubicBezTo>
                  <a:pt x="4" y="142"/>
                  <a:pt x="7" y="145"/>
                  <a:pt x="10" y="146"/>
                </a:cubicBezTo>
                <a:cubicBezTo>
                  <a:pt x="4" y="145"/>
                  <a:pt x="0" y="140"/>
                  <a:pt x="0" y="13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571625"/>
            <a:ext cx="342900" cy="34290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562100" y="1571625"/>
            <a:ext cx="5191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Rubrics Are Vague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562100" y="1885950"/>
            <a:ext cx="51911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Students guess what matters. "Participation" could mean 10% or 40% with no clear breakdown.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00100" y="2924175"/>
            <a:ext cx="6219825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800100" y="2924175"/>
            <a:ext cx="6219825" cy="1390650"/>
          </a:xfrm>
          <a:custGeom>
            <a:pathLst>
              <a:path w="653" h="14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8"/>
                </a:lnTo>
                <a:cubicBezTo>
                  <a:pt x="4" y="142"/>
                  <a:pt x="7" y="145"/>
                  <a:pt x="10" y="146"/>
                </a:cubicBezTo>
                <a:cubicBezTo>
                  <a:pt x="4" y="145"/>
                  <a:pt x="0" y="140"/>
                  <a:pt x="0" y="13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28700" y="3152775"/>
            <a:ext cx="342900" cy="342900"/>
          </a:xfrm>
          <a:prstGeom prst="rect">
            <a:avLst/>
          </a:prstGeom>
          <a:ln/>
        </p:spPr>
      </p:pic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562100" y="3152775"/>
            <a:ext cx="5191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Work Distribution Is Unfair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562100" y="3467100"/>
            <a:ext cx="51911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One person ends up doing everything. No skill-based matching exists in current tools.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00100" y="4505325"/>
            <a:ext cx="6219825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800100" y="4505325"/>
            <a:ext cx="6219825" cy="1390650"/>
          </a:xfrm>
          <a:custGeom>
            <a:pathLst>
              <a:path w="653" h="14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8"/>
                </a:lnTo>
                <a:cubicBezTo>
                  <a:pt x="4" y="142"/>
                  <a:pt x="7" y="145"/>
                  <a:pt x="10" y="146"/>
                </a:cubicBezTo>
                <a:cubicBezTo>
                  <a:pt x="4" y="145"/>
                  <a:pt x="0" y="140"/>
                  <a:pt x="0" y="13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28700" y="4733925"/>
            <a:ext cx="342900" cy="34290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562100" y="4733925"/>
            <a:ext cx="5191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Deadlines Sneak Up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562100" y="5048250"/>
            <a:ext cx="51911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No early warning for at-risk tasks. Teams discover they're behind only days before submission.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286625" y="1143000"/>
            <a:ext cx="4143375" cy="4953000"/>
          </a:xfrm>
          <a:prstGeom prst="roundRect">
            <a:avLst>
              <a:gd name="adj" fmla="val 3678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591425" y="2305050"/>
            <a:ext cx="35337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73%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591425" y="4162425"/>
            <a:ext cx="353377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12%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62000" y="63055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9728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591425" y="1866900"/>
            <a:ext cx="3533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THE IMPACT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591425" y="3114675"/>
            <a:ext cx="35337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of students report uneven task distribution in group projects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591425" y="3924300"/>
            <a:ext cx="3533775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591425" y="4791075"/>
            <a:ext cx="35337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of student groups use any project management tool at all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" name="" descr="&lt;Slide style={{ width: '1280px', height: '720px', padding: '20px 80px', background: '#FFFFFF', flexDirection: 'column' }}&gt;&#10;  &lt;Box style={{ height: 100, flexDirection: 'column', justifyContent: 'center' }}&gt;&#10;    &lt;Text style={{ fontSize: 36, fontWeight: 'bold', color: '#0F172A' }}&gt;One Prompt. Full Analysis.&lt;/Text&gt;&#10;  &lt;/Box&gt;&#10;  &lt;Box style={{ flex: 1, flexDirection: 'row', gap: 40 }}&gt;&#10;    &lt;Box style={{ width: '55%', justifyContent: 'center', alignItems: 'center' }}&gt;&#10;      &lt;svg width={580} height={460} viewBox=&quot;0 0 600 460&quot;&gt;&#10;        &lt;defs&gt;&#10;          &lt;linearGradient id=&quot;inputGrad&quot; x1=&quot;0%&quot; y1=&quot;0%&quot; x2=&quot;100%&quot; y2=&quot;0%&quot;&gt;&#10;            &lt;stop offset=&quot;0%&quot; stopColor=&quot;#3B82F6&quot; /&gt;&#10;            &lt;stop offset=&quot;100%&quot; stopColor=&quot;#06B6D4&quot; /&gt;&#10;          &lt;/linearGradient&gt;&#10;          &lt;linearGradient id=&quot;outputGrad&quot; x1=&quot;0%&quot; y1=&quot;0%&quot; x2=&quot;100%&quot; y2=&quot;0%&quot;&gt;&#10;            &lt;stop offset=&quot;0%&quot; stopColor=&quot;#10B981&quot; /&gt;&#10;            &lt;stop offset=&quot;100%&quot; stopColor=&quot;#06B6D4&quot; /&gt;&#10;          &lt;/linearGradient&gt;&#10;        &lt;/defs&gt;&#10;        &lt;rect x=&quot;50&quot; y=&quot;0&quot; width=&quot;500&quot; height=&quot;70&quot; rx=&quot;12&quot; fill=&quot;url(#inputGrad)&quot; /&gt;&#10;        &lt;text x=&quot;300&quot; y=&quot;30&quot; textAnchor=&quot;middle&quot; fill=&quot;#FFFFFF&quot; fontSize=&quot;14&quot; fontWeight=&quot;bold&quot;&gt;INPUT&lt;/text&gt;&#10;        &lt;text x=&quot;300&quot; y=&quot;52&quot; textAnchor=&quot;middle&quot; fill=&quot;#FFFFFF&quot; fontSize=&quot;16&quot;&gt;Assignment Brief + Rubric + Team Info&lt;/text&gt;&#10;        &lt;path d=&quot;M 300 70 L 300 110&quot; stroke=&quot;#94A3B8&quot; strokeWidth=&quot;2&quot; /&gt;&#10;        &lt;path d=&quot;M 292 100 L 300 110 L 308 100&quot; fill=&quot;none&quot; stroke=&quot;#94A3B8&quot; strokeWidth=&quot;2&quot; /&gt;&#10;        &lt;g&gt;&#10;          &lt;rect x=&quot;20&quot; y=&quot;120&quot; width=&quot;80&quot; height=&quot;60&quot; rx=&quot;8&quot; fill=&quot;#EFF6FF&quot; stroke=&quot;#3B82F6&quot; strokeWidth=&quot;2&quot; /&gt;&#10;          &lt;text x=&quot;60&quot; y=&quot;145&quot; textAnchor=&quot;middle&quot; fill=&quot;#3B82F6&quot; fontSize=&quot;11&quot; fontWeight=&quot;bold&quot;&gt;Rubric&lt;/text&gt;&#10;          &lt;text x=&quot;60&quot; y=&quot;160&quot; textAnchor=&quot;middle&quot; fill=&quot;#64748B&quot; fontSize=&quot;9&quot;&gt;LLM&lt;/text&gt;&#10;        &lt;/g&gt;&#10;        &lt;path d=&quot;M 100 150 L 120 150&quot; stroke=&quot;#94A3B8&quot; strokeWidth=&quot;2&quot; /&gt;&#10;        &lt;path d=&quot;M 113 145 L 120 150 L 113 155&quot; fill=&quot;none&quot; stroke=&quot;#94A3B8&quot; strokeWidth=&quot;2&quot; /&gt;&#10;        &lt;g&gt;&#10;          &lt;rect x=&quot;120&quot; y=&quot;120&quot; width=&quot;80&quot; height=&quot;60&quot; rx=&quot;8&quot; fill=&quot;#EFF6FF&quot; stroke=&quot;#3B82F6&quot; strokeWidth=&quot;2&quot; /&gt;&#10;          &lt;text x=&quot;160&quot; y=&quot;145&quot; textAnchor=&quot;middle&quot; fill=&quot;#3B82F6&quot; fontSize=&quot;11&quot; fontWeight=&quot;bold&quot;&gt;Task&lt;/text&gt;&#10;          &lt;text x=&quot;160&quot; y=&quot;160&quot; textAnchor=&quot;middle&quot; fill=&quot;#64748B&quot; fontSize=&quot;9&quot;&gt;LLM&lt;/text&gt;&#10;        &lt;/g&gt;&#10;        &lt;path d=&quot;M 200 150 L 220 150&quot; stroke=&quot;#94A3B8&quot; strokeWidth=&quot;2&quot; /&gt;&#10;        &lt;path d=&quot;M 213 145 L 220 150 L 213 155&quot; fill=&quot;none&quot; stroke=&quot;#94A3B8&quot; strokeWidth=&quot;2&quot; /&gt;&#10;        &lt;g&gt;&#10;          &lt;rect x=&quot;220&quot; y=&quot;120&quot; width=&quot;80&quot; height=&quot;60&quot; rx=&quot;8&quot; fill=&quot;#EFF6FF&quot; stroke=&quot;#3B82F6&quot; strokeWidth=&quot;2&quot; /&gt;&#10;          &lt;text x=&quot;260&quot; y=&quot;145&quot; textAnchor=&quot;middle&quot; fill=&quot;#3B82F6&quot; fontSize=&quot;11&quot; fontWeight=&quot;bold&quot;&gt;Skill&lt;/text&gt;&#10;          &lt;text x=&quot;260&quot; y=&quot;160&quot; textAnchor=&quot;middle&quot; fill=&quot;#64748B&quot; fontSize=&quot;9&quot;&gt;LLM&lt;/text&gt;&#10;        &lt;/g&gt;&#10;        &lt;path d=&quot;M 300 150 L 320 150&quot; stroke=&quot;#94A3B8&quot; strokeWidth=&quot;2&quot; /&gt;&#10;        &lt;path d=&quot;M 313 145 L 320 150 L 313 155&quot; fill=&quot;none&quot; stroke=&quot;#94A3B8&quot; strokeWidth=&quot;2&quot; /&gt;&#10;        &lt;g&gt;&#10;          &lt;rect x=&quot;320&quot; y=&quot;120&quot; width=&quot;80&quot; height=&quot;60&quot; rx=&quot;8&quot; fill=&quot;#F0FDF4&quot; stroke=&quot;#10B981&quot; strokeWidth=&quot;2&quot; /&gt;&#10;          &lt;text x=&quot;360&quot; y=&quot;145&quot; textAnchor=&quot;middle&quot; fill=&quot;#10B981&quot; fontSize=&quot;11&quot; fontWeight=&quot;bold&quot;&gt;CPM&lt;/text&gt;&#10;          &lt;text x=&quot;360&quot; y=&quot;160&quot; textAnchor=&quot;middle&quot; fill=&quot;#64748B&quot; fontSize=&quot;9&quot;&gt;Det.&lt;/text&gt;&#10;        &lt;/g&gt;&#10;        &lt;path d=&quot;M 400 150 L 420 150&quot; stroke=&quot;#94A3B8&quot; strokeWidth=&quot;2&quot; /&gt;&#10;        &lt;path d=&quot;M 413 145 L 420 150 L 413 155&quot; fill=&quot;none&quot; stroke=&quot;#94A3B8&quot; strokeWidth=&quot;2&quot; /&gt;&#10;        &lt;g&gt;&#10;          &lt;rect x=&quot;420&quot; y=&quot;120&quot; width=&quot;80&quot; height=&quot;60&quot; rx=&quot;8&quot; fill=&quot;#EFF6FF&quot; stroke=&quot;#3B82F6&quot; strokeWidth=&quot;2&quot; /&gt;&#10;          &lt;text x=&quot;460&quot; y=&quot;145&quot; textAnchor=&quot;middle&quot; fill=&quot;#3B82F6&quot; fontSize=&quot;11&quot; fontWeight=&quot;bold&quot;&gt;Risk&lt;/text&gt;&#10;          &lt;text x=&quot;460&quot; y=&quot;160&quot; textAnchor=&quot;middle&quot; fill=&quot;#64748B&quot; fontSize=&quot;9&quot;&gt;LLM&lt;/text&gt;&#10;        &lt;/g&gt;&#10;        &lt;path d=&quot;M 500 150 L 520 150&quot; stroke=&quot;#94A3B8&quot; strokeWidth=&quot;2&quot; /&gt;&#10;        &lt;path d=&quot;M 513 145 L 520 150 L 513 155&quot; fill=&quot;none&quot; stroke=&quot;#94A3B8&quot; strokeWidth=&quot;2&quot; /&gt;&#10;        &lt;g&gt;&#10;          &lt;rect x=&quot;520&quot; y=&quot;120&quot; width=&quot;60&quot; height=&quot;60&quot; rx=&quot;8&quot; fill=&quot;#FEF3C7&quot; stroke=&quot;#F59E0B&quot; strokeWidth=&quot;2&quot; /&gt;&#10;          &lt;text x=&quot;550&quot; y=&quot;145&quot; textAnchor=&quot;middle&quot; fill=&quot;#F59E0B&quot; fontSize=&quot;11&quot; fontWeight=&quot;bold&quot;&gt;Rescue&lt;/text&gt;&#10;          &lt;text x=&quot;550&quot; y=&quot;160&quot; textAnchor=&quot;middle&quot; fill=&quot;#64748B&quot; fontSize=&quot;9&quot;&gt;Hybrid&lt;/text&gt;&#10;        &lt;/g&gt;&#10;        &lt;path d=&quot;M 300 180 L 300 220&quot; stroke=&quot;#94A3B8&quot; strokeWidth=&quot;2&quot; /&gt;&#10;        &lt;path d=&quot;M 292 210 L 300 220 L 308 210&quot; fill=&quot;none&quot; stroke=&quot;#94A3B8&quot; strokeWidth=&quot;2&quot; /&gt;&#10;        &lt;rect x=&quot;50&quot; y=&quot;220&quot; width=&quot;500&quot; height=&quot;70&quot; rx=&quot;12&quot; fill=&quot;url(#outputGrad)&quot; /&gt;&#10;        &lt;text x=&quot;300&quot; y=&quot;250&quot; textAnchor=&quot;middle&quot; fill=&quot;#FFFFFF&quot; fontSize=&quot;14&quot; fontWeight=&quot;bold&quot;&gt;OUTPUT&lt;/text&gt;&#10;        &lt;text x=&quot;300&quot; y=&quot;272&quot; textAnchor=&quot;middle&quot; fill=&quot;#FFFFFF&quot; fontSize=&quot;16&quot;&gt;Complete Plan + Risk Rescue + Deadline Defense&lt;/text&gt;&#10;        &lt;rect x=&quot;50&quot; y=&quot;320&quot; width=&quot;500&quot; height=&quot;120&quot; rx=&quot;12&quot; fill=&quot;#F8FAFC&quot; stroke=&quot;#E2E8F0&quot; strokeWidth=&quot;1&quot; /&gt;&#10;        &lt;text x=&quot;300&quot; y=&quot;345&quot; textAnchor=&quot;middle&quot; fill=&quot;#64748B&quot; fontSize=&quot;12&quot;&gt;AUTONOMOUS DECISION CHAIN&lt;/text&gt;&#10;        &lt;text x=&quot;80&quot; y=&quot;375&quot; fill=&quot;#3B82F6&quot; fontSize=&quot;13&quot;&gt;1. Parse rubric into structured criteria&lt;/text&gt;&#10;        &lt;text x=&quot;80&quot; y=&quot;395&quot; fill=&quot;#3B82F6&quot; fontSize=&quot;13&quot;&gt;2. Decompose criteria into actionable tasks&lt;/text&gt;&#10;        &lt;text x=&quot;80&quot; y=&quot;415&quot; fill=&quot;#10B981&quot; fontSize=&quot;13&quot;&gt;3. Calculate critical path + detect risks + rescue&lt;/text&gt;&#10;      &lt;/svg&gt;&#10;    &lt;/Box&gt;&#10;    &lt;Box style={{ width: '45%', flexDirection: 'column', gap: 28, justifyContent: 'center' }}&gt;&#10;      &lt;Text style={{ fontSize: 22, color: '#0F172A', lineHeight: 1.5 }}&gt;&#10;        TaskFlow AI takes a &lt;span style={{ fontWeight: 'bold', color: '#3B82F6' }}&gt;single assignment prompt&lt;/span&gt; and produces a complete, rubric-aligned project plan with task assignments, deadline risk flags, and autonomous rescue recommendations.&#10;      &lt;/Text&gt;&#10;      &lt;Box style={{ flexDirection: 'column', gap: 16, padding: 24, background: '#F8FAFC', borderRadius: 12, borderLeft: '4px solid #06B6D4' }}&gt;&#10;        &lt;Box style={{ flexDirection: 'row', gap: 12, alignItems: 'flex-start' }}&gt;&#10;          &lt;FAIcon name='arrow-right' style={{ fill: '#06B6D4', width: 20, height: 20 }} /&gt;&#10;          &lt;Box style={{ flex: 1 }}&gt;&#10;            &lt;Text style={{ fontSize: 18, fontWeight: 'bold', color: '#0F172A' }}&gt;Input&lt;/Text&gt;&#10;            &lt;Text style={{ fontSize: 16, color: '#64748B' }}&gt;One prompt: assignment brief + rubric + team members&lt;/Text&gt;&#10;            &lt;/Box&gt;&#10;        &lt;/Box&gt;&#10;        &lt;Box style={{ flexDirection: 'row', gap: 12, alignItems: 'flex-start' }}&gt;&#10;          &lt;FAIcon name='arrow-right' style={{ fill: '#06B6D4', width: 20, height: 20 }} /&gt;&#10;          &lt;Box style={{ flex: 1 }}&gt;&#10;            &lt;Text style={{ fontSize: 18, fontWeight: 'bold', color: '#0F172A' }}&gt;Process&lt;/Text&gt;&#10;            &lt;Text style={{ fontSize: 16, color: '#64748B' }}&gt;6 agents: analyze, decompose, match, calculate, assess, rescue&lt;/Text&gt;&#10;            &lt;/Box&gt;&#10;        &lt;/Box&gt;&#10;        &lt;Box style={{ flexDirection: 'row', gap: 12, alignItems: 'flex-start' }}&gt;&#10;          &lt;FAIcon name='arrow-right' style={{ fill: '#06B6D4', width: 20, height: 20 }} /&gt;&#10;          &lt;Box style={{ flex: 1 }}&gt;&#10;            &lt;Text style={{ fontSize: 18, fontWeight: 'bold', color: '#0F172A' }}&gt;Output&lt;/Text&gt;&#10;            &lt;Text style={{ fontSize: 16, color: '#64748B' }}&gt;Complete plan + risk assessment + rescue strategies&lt;/Text&gt;&#10;            &lt;/Box&gt;&#10;        &lt;/Box&gt;&#10;      &lt;/Box&gt;&#10;    &lt;/Box&gt;&#10;  &lt;/Box&gt;&#10;  &lt;Box style={{ height: 60, flexDirection: 'row', justifyContent: 'space-between', alignItems: 'center' }}&gt;&#10;    &lt;Text style={{ fontSize: 14, color: '#94A3B8' }}&gt;TaskFlow AI&lt;/Text&gt;&#10;    &lt;Text style={{ fontSize: 14, color: '#94A3B8' }}&gt;03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One Prompt. Full Analysis.</a:t>
            </a:r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8675" y="1428750"/>
            <a:ext cx="5524500" cy="43815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00850" y="1381125"/>
            <a:ext cx="4629150" cy="1885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0F172A"/>
                </a:solidFill>
                <a:latin typeface="Microsoft YaHei"/>
                <a:ea typeface="Microsoft YaHei"/>
              </a:rPr>
              <a:t xml:space="preserve">TaskFlow AI takes a </a:t>
            </a:r>
            <a:r>
              <a:rPr lang="en-US" sz="1650" b="1">
                <a:solidFill>
                  <a:srgbClr val="3B82F6"/>
                </a:solidFill>
                <a:latin typeface="Microsoft YaHei"/>
                <a:ea typeface="Microsoft YaHei"/>
              </a:rPr>
              <a:t>single assignment prompt</a:t>
            </a:r>
            <a:r>
              <a:rPr lang="en-US" sz="1650">
                <a:solidFill>
                  <a:srgbClr val="0F172A"/>
                </a:solidFill>
                <a:latin typeface="Microsoft YaHei"/>
                <a:ea typeface="Microsoft YaHei"/>
              </a:rPr>
              <a:t xml:space="preserve"> and produces a complete, rubric-aligned project plan with task assignments, deadline risk flags, and autonomous rescue recommendations.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838950" y="3533775"/>
            <a:ext cx="462915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838950" y="3533775"/>
            <a:ext cx="4629150" cy="2324100"/>
          </a:xfrm>
          <a:custGeom>
            <a:pathLst>
              <a:path w="486" h="24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36"/>
                </a:lnTo>
                <a:cubicBezTo>
                  <a:pt x="4" y="240"/>
                  <a:pt x="7" y="243"/>
                  <a:pt x="10" y="244"/>
                </a:cubicBezTo>
                <a:cubicBezTo>
                  <a:pt x="4" y="243"/>
                  <a:pt x="0" y="238"/>
                  <a:pt x="0" y="23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67550" y="3762375"/>
            <a:ext cx="190500" cy="19050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372350" y="3762375"/>
            <a:ext cx="3829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Input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372350" y="3971925"/>
            <a:ext cx="38290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One prompt: assignment brief + rubric + team members</a:t>
            </a:r>
            <a:endParaRPr/>
          </a:p>
        </p:txBody>
      </p:sp>
      <p:pic>
        <p:nvPicPr>
          <p:cNvPr id="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67550" y="4495800"/>
            <a:ext cx="190500" cy="190500"/>
          </a:xfrm>
          <a:prstGeom prst="rect">
            <a:avLst/>
          </a:prstGeom>
          <a:ln/>
        </p:spPr>
      </p:pic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372350" y="4495800"/>
            <a:ext cx="3829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Process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372350" y="4705350"/>
            <a:ext cx="38290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6 agents: analyze, decompose, match, calculate, assess, rescue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67550" y="5229225"/>
            <a:ext cx="190500" cy="190500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372350" y="5229225"/>
            <a:ext cx="3829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Output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372350" y="5438775"/>
            <a:ext cx="3829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Complete plan + risk assessment + rescue strategies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62000" y="63055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9728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9" name="" descr="&lt;Slide style={{ width: '1280px', height: '720px', padding: '20px 80px', background: '#FFFFFF', flexDirection: 'column' }}&gt;&#10;  &lt;Box style={{ height: 100, flexDirection: 'column', justifyContent: 'center' }}&gt;&#10;    &lt;Text style={{ fontSize: 36, fontWeight: 'bold', color: '#0F172A' }}&gt;Two-Layer Architecture&lt;/Text&gt;&#10;  &lt;/Box&gt;&#10;  &lt;Box style={{ flex: 1, flexDirection: 'row', gap: 40 }}&gt;&#10;    &lt;Box style={{ width: '55%', justifyContent: 'center', alignItems: 'center' }}&gt;&#10;      &lt;svg width={560} height={460} viewBox=&quot;0 0 560 460&quot;&gt;&#10;        &lt;rect x=&quot;0&quot; y=&quot;0&quot; width=&quot;560&quot; height=&quot;190&quot; rx=&quot;12&quot; fill=&quot;#EFF6FF&quot; stroke=&quot;#3B82F6&quot; strokeWidth=&quot;2&quot; strokeDasharray=&quot;6 4&quot; /&gt;&#10;        &lt;text x=&quot;280&quot; y=&quot;28&quot; textAnchor=&quot;middle&quot; fill=&quot;#3B82F6&quot; fontSize=&quot;14&quot; fontWeight=&quot;bold&quot;&gt;LLM AGENT LAYER&lt;/text&gt;&#10;        &lt;g&gt;&#10;          &lt;rect x=&quot;30&quot; y=&quot;50&quot; width=&quot;110&quot; height=&quot;110&quot; rx=&quot;10&quot; fill=&quot;#FFFFFF&quot; stroke=&quot;#3B82F6&quot; strokeWidth=&quot;2&quot; /&gt;&#10;          &lt;text x=&quot;85&quot; y=&quot;90&quot; textAnchor=&quot;middle&quot; fill=&quot;#3B82F6&quot; fontSize=&quot;13&quot; fontWeight=&quot;bold&quot;&gt;Rubric&lt;/text&gt;&#10;          &lt;text x=&quot;85&quot; y=&quot;110&quot; textAnchor=&quot;middle&quot; fill=&quot;#64748B&quot; fontSize=&quot;10&quot;&gt;Agent&lt;/text&gt;&#10;          &lt;text x=&quot;85&quot; y=&quot;140&quot; textAnchor=&quot;middle&quot; fill=&quot;#3B82F6&quot; fontSize=&quot;9&quot;&gt;FR-001&lt;/text&gt;&#10;        &lt;/g&gt;&#10;        &lt;g&gt;&#10;          &lt;rect x=&quot;160&quot; y=&quot;50&quot; width=&quot;110&quot; height=&quot;110&quot; rx=&quot;10&quot; fill=&quot;#FFFFFF&quot; stroke=&quot;#3B82F6&quot; strokeWidth=&quot;2&quot; /&gt;&#10;          &lt;text x=&quot;215&quot; y=&quot;90&quot; textAnchor=&quot;middle&quot; fill=&quot;#3B82F6&quot; fontSize=&quot;13&quot; fontWeight=&quot;bold&quot;&gt;Task&lt;/text&gt;&#10;          &lt;text x=&quot;215&quot; y=&quot;110&quot; textAnchor=&quot;middle&quot; fill=&quot;#64748B&quot; fontSize=&quot;10&quot;&gt;Agent&lt;/text&gt;&#10;          &lt;text x=&quot;215&quot; y=&quot;140&quot; textAnchor=&quot;middle&quot; fill=&quot;#3B82F6&quot; fontSize=&quot;9&quot;&gt;FR-002&lt;/text&gt;&#10;        &lt;/g&gt;&#10;        &lt;g&gt;&#10;          &lt;rect x=&quot;290&quot; y=&quot;50&quot; width=&quot;110&quot; height=&quot;110&quot; rx=&quot;10&quot; fill=&quot;#FFFFFF&quot; stroke=&quot;#3B82F6&quot; strokeWidth=&quot;2&quot; /&gt;&#10;          &lt;text x=&quot;345&quot; y=&quot;90&quot; textAnchor=&quot;middle&quot; fill=&quot;#3B82F6&quot; fontSize=&quot;13&quot; fontWeight=&quot;bold&quot;&gt;Skill&lt;/text&gt;&#10;          &lt;text x=&quot;345&quot; y=&quot;110&quot; textAnchor=&quot;middle&quot; fill=&quot;#64748B&quot; fontSize=&quot;10&quot;&gt;Agent&lt;/text&gt;&#10;          &lt;text x=&quot;345&quot; y=&quot;140&quot; textAnchor=&quot;middle&quot; fill=&quot;#3B82F6&quot; fontSize=&quot;9&quot;&gt;FR-003&lt;/text&gt;&#10;        &lt;/g&gt;&#10;        &lt;g&gt;&#10;          &lt;rect x=&quot;420&quot; y=&quot;50&quot; width=&quot;110&quot; height=&quot;110&quot; rx=&quot;10&quot; fill=&quot;#FFFFFF&quot; stroke=&quot;#3B82F6&quot; strokeWidth=&quot;2&quot; /&gt;&#10;          &lt;text x=&quot;475&quot; y=&quot;90&quot; textAnchor=&quot;middle&quot; fill=&quot;#3B82F6&quot; fontSize=&quot;13&quot; fontWeight=&quot;bold&quot;&gt;Risk&lt;/text&gt;&#10;          &lt;text x=&quot;475&quot; y=&quot;110&quot; textAnchor=&quot;middle&quot; fill=&quot;#64748B&quot; fontSize=&quot;10&quot;&gt;Agent&lt;/text&gt;&#10;          &lt;text x=&quot;475&quot; y=&quot;140&quot; textAnchor=&quot;middle&quot; fill=&quot;#3B82F6&quot; fontSize=&quot;9&quot;&gt;FR-006&lt;/text&gt;&#10;        &lt;/g&gt;&#10;        &lt;path d=&quot;M 85 160 L 85 200 M 215 160 L 215 200 M 345 160 L 345 200 M 475 160 L 475 200&quot; stroke=&quot;#94A3B8&quot; strokeWidth=&quot;2&quot; /&gt;&#10;        &lt;path d=&quot;M 85 190 L 85 200 M 80 195 L 85 200 L 90 195&quot; fill=&quot;none&quot; stroke=&quot;#94A3B8&quot; strokeWidth=&quot;2&quot; /&gt;&#10;        &lt;path d=&quot;M 215 190 L 215 200 M 210 195 L 215 200 L 220 195&quot; fill=&quot;none&quot; stroke=&quot;#94A3B8&quot; strokeWidth=&quot;2&quot; /&gt;&#10;        &lt;path d=&quot;M 345 190 L 345 200 M 340 195 L 345 200 L 350 195&quot; fill=&quot;none&quot; stroke=&quot;#94A3B8&quot; strokeWidth=&quot;2&quot; /&gt;&#10;        &lt;path d=&quot;M 475 190 L 475 200 M 470 195 L 475 200 L 480 195&quot; fill=&quot;none&quot; stroke=&quot;#94A3B8&quot; strokeWidth=&quot;2&quot; /&gt;&#10;        &lt;rect x=&quot;0&quot; y=&quot;210&quot; width=&quot;560&quot; height=&quot;190&quot; rx=&quot;12&quot; fill=&quot;#F0FDF4&quot; stroke=&quot;#10B981&quot; strokeWidth=&quot;2&quot; strokeDasharray=&quot;6 4&quot; /&gt;&#10;        &lt;text x=&quot;280&quot; y=&quot;238&quot; textAnchor=&quot;middle&quot; fill=&quot;#10B981&quot; fontSize=&quot;14&quot; fontWeight=&quot;bold&quot;&gt;DETERMINISTIC LOGIC LAYER&lt;/text&gt;&#10;        &lt;g&gt;&#10;          &lt;rect x=&quot;30&quot; y=&quot;260&quot; width=&quot;110&quot; height=&quot;110&quot; rx=&quot;10&quot; fill=&quot;#FFFFFF&quot; stroke=&quot;#10B981&quot; strokeWidth=&quot;2&quot; /&gt;&#10;          &lt;text x=&quot;85&quot; y=&quot;300&quot; textAnchor=&quot;middle&quot; fill=&quot;#10B981&quot; fontSize=&quot;13&quot; fontWeight=&quot;bold&quot;&gt;CPM&lt;/text&gt;&#10;          &lt;text x=&quot;85&quot; y=&quot;320&quot; textAnchor=&quot;middle&quot; fill=&quot;#64748B&quot; fontSize=&quot;10&quot;&gt;Critical Path&lt;/text&gt;&#10;          &lt;text x=&quot;85&quot; y=&quot;350&quot; textAnchor=&quot;middle&quot; fill=&quot;#10B981&quot; fontSize=&quot;9&quot;&gt;FR-004&lt;/text&gt;&#10;        &lt;/g&gt;&#10;        &lt;g&gt;&#10;          &lt;rect x=&quot;160&quot; y=&quot;260&quot; width=&quot;110&quot; height=&quot;110&quot; rx=&quot;10&quot; fill=&quot;#FFFFFF&quot; stroke=&quot;#10B981&quot; strokeWidth=&quot;2&quot; /&gt;&#10;          &lt;text x=&quot;215&quot; y=&quot;300&quot; textAnchor=&quot;middle&quot; fill=&quot;#10B981&quot; fontSize=&quot;13&quot; fontWeight=&quot;bold&quot;&gt;Validator&lt;/text&gt;&#10;          &lt;text x=&quot;215&quot; y=&quot;320&quot; textAnchor=&quot;middle&quot; fill=&quot;#64748B&quot; fontSize=&quot;10&quot;&gt;Plan Check&lt;/text&gt;&#10;          &lt;text x=&quot;215&quot; y=&quot;350&quot; textAnchor=&quot;middle&quot; fill=&quot;#10B981&quot; fontSize=&quot;9&quot;&gt;FR-005&lt;/text&gt;&#10;        &lt;/g&gt;&#10;        &lt;g&gt;&#10;          &lt;rect x=&quot;290&quot; y=&quot;260&quot; width=&quot;110&quot; height=&quot;110&quot; rx=&quot;10&quot; fill=&quot;#FFFFFF&quot; stroke=&quot;#10B981&quot; strokeWidth=&quot;2&quot; /&gt;&#10;          &lt;text x=&quot;345&quot; y=&quot;300&quot; textAnchor=&quot;middle&quot; fill=&quot;#10B981&quot; fontSize=&quot;13&quot; fontWeight=&quot;bold&quot;&gt;Assigner&lt;/text&gt;&#10;          &lt;text x=&quot;345&quot; y=&quot;320&quot; textAnchor=&quot;middle&quot; fill=&quot;#64748B&quot; fontSize=&quot;10&quot;&gt;Multi-Member&lt;/text&gt;&#10;          &lt;text x=&quot;345&quot; y=&quot;350&quot; textAnchor=&quot;middle&quot; fill=&quot;#10B981&quot; fontSize=&quot;9&quot;&gt;FR-003&lt;/text&gt;&#10;        &lt;/g&gt;&#10;        &lt;g&gt;&#10;          &lt;rect x=&quot;420&quot; y=&quot;260&quot; width=&quot;110&quot; height=&quot;110&quot; rx=&quot;10&quot; fill=&quot;#FFFFFF&quot; stroke=&quot;#10B981&quot; strokeWidth=&quot;2&quot; /&gt;&#10;          &lt;text x=&quot;475&quot; y=&quot;300&quot; textAnchor=&quot;middle&quot; fill=&quot;#10B981&quot; fontSize=&quot;13&quot; fontWeight=&quot;bold&quot;&gt;Rescue&lt;/text&gt;&#10;          &lt;text x=&quot;475&quot; y=&quot;320&quot; textAnchor=&quot;middle&quot; fill=&quot;#64748B&quot; fontSize=&quot;10&quot;&gt;Engine&lt;/text&gt;&#10;          &lt;text x=&quot;475&quot; y=&quot;350&quot; textAnchor=&quot;middle&quot; fill=&quot;#10B981&quot; fontSize=&quot;9&quot;&gt;FR-012&lt;/text&gt;&#10;        &lt;/g&gt;&#10;        &lt;text x=&quot;280&quot; y=&quot;430&quot; textAnchor=&quot;middle&quot; fill=&quot;#94A3B8&quot; fontSize=&quot;12&quot;&gt;Semantic understanding above | Mathematical precision below&lt;/text&gt;&#10;      &lt;/svg&gt;&#10;    &lt;/Box&gt;&#10;    &lt;Box style={{ width: '45%', flexDirection: 'column', gap: 24, justifyContent: 'center' }}&gt;&#10;      &lt;Box style={{ flexDirection: 'column', gap: 12, padding: 24, background: '#EFF6FF', borderRadius: 12, borderLeft: '4px solid #3B82F6' }}&gt;&#10;        &lt;Box style={{ flexDirection: 'row', alignItems: 'center', gap: 12 }}&gt;&#10;          &lt;FAIcon name='brain' style={{ fill: '#3B82F6', width: 28, height: 28 }} /&gt;&#10;          &lt;Text style={{ fontSize: 20, fontWeight: 'bold', color: '#3B82F6' }}&gt;LLM Agent Layer&lt;/Text&gt;&#10;        &lt;/Box&gt;&#10;        &lt;Text style={{ fontSize: 16, color: '#64748B', lineHeight: 1.5 }}&gt;Handles semantic understanding: rubric parsing, task decomposition, skill matching, risk reasoning. Flexible and context-aware.&lt;/Text&gt;&#10;      &lt;/Box&gt;&#10;      &lt;Box style={{ flexDirection: 'column', gap: 12, padding: 24, background: '#F0FDF4', borderRadius: 12, borderLeft: '4px solid #10B981' }}&gt;&#10;        &lt;Box style={{ flexDirection: 'row', alignItems: 'center', gap: 12 }}&gt;&#10;          &lt;FAIcon name='cog' style={{ fill: '#10B981', width: 28, height: 28 }} /&gt;&#10;          &lt;Text style={{ fontSize: 20, fontWeight: 'bold', color: '#10B981' }}&gt;Deterministic Logic Layer&lt;/Text&gt;&#10;        &lt;/Box&gt;&#10;        &lt;Text style={{ fontSize: 16, color: '#64748B', lineHeight: 1.5 }}&gt;Handles mathematical precision: critical path calculation, plan validation, multi-member assignment, rescue workflow. Reliable and reproducible.&lt;/Text&gt;&#10;      &lt;/Box&gt;&#10;      &lt;Text style={{ fontSize: 16, color: '#0F172A', lineHeight: 1.5, textAlign: 'center' }}&gt;&#10;        &lt;span style={{ fontWeight: 'bold' }}&gt;Hybrid approach&lt;/span&gt; = flexibility + reliability&#10;      &lt;/Text&gt;&#10;    &lt;/Box&gt;&#10;  &lt;/Box&gt;&#10;  &lt;Box style={{ height: 60, flexDirection: 'row', justifyContent: 'space-between', alignItems: 'center' }}&gt;&#10;    &lt;Text style={{ fontSize: 14, color: '#94A3B8' }}&gt;TaskFlow AI&lt;/Text&gt;&#10;    &lt;Text style={{ fontSize: 14, color: '#94A3B8' }}&gt;04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Two-Layer Architecture</a:t>
            </a:r>
            <a:endParaRPr/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428750"/>
            <a:ext cx="5334000" cy="4381500"/>
          </a:xfrm>
          <a:prstGeom prst="rect">
            <a:avLst/>
          </a:prstGeom>
          <a:ln/>
        </p:spPr>
      </p:pic>
      <p:sp>
        <p:nvSpPr>
          <p:cNvPr id="63" name=""/>
          <p:cNvSpPr/>
          <p:nvPr/>
        </p:nvSpPr>
        <p:spPr>
          <a:xfrm rot="0" flipH="0" flipV="0">
            <a:off x="6838950" y="1590675"/>
            <a:ext cx="4629150" cy="1666875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838950" y="1590675"/>
            <a:ext cx="4629150" cy="1666875"/>
          </a:xfrm>
          <a:custGeom>
            <a:pathLst>
              <a:path w="486" h="1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67"/>
                </a:lnTo>
                <a:cubicBezTo>
                  <a:pt x="4" y="171"/>
                  <a:pt x="7" y="174"/>
                  <a:pt x="10" y="175"/>
                </a:cubicBezTo>
                <a:cubicBezTo>
                  <a:pt x="4" y="174"/>
                  <a:pt x="0" y="169"/>
                  <a:pt x="0" y="1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67550" y="1819275"/>
            <a:ext cx="266700" cy="26670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448550" y="1838325"/>
            <a:ext cx="1619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B82F6"/>
                </a:solidFill>
                <a:latin typeface="Microsoft YaHei"/>
                <a:ea typeface="Microsoft YaHei"/>
              </a:rPr>
              <a:t>LLM Agent Layer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067550" y="2200275"/>
            <a:ext cx="41338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Handles semantic understanding: rubric parsing, task decomposition, skill matching, risk reasoning. Flexible and context-aware.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838950" y="3486150"/>
            <a:ext cx="4629150" cy="1666875"/>
          </a:xfrm>
          <a:prstGeom prst="roundRect">
            <a:avLst>
              <a:gd name="adj" fmla="val 6857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838950" y="3486150"/>
            <a:ext cx="4629150" cy="1666875"/>
          </a:xfrm>
          <a:custGeom>
            <a:pathLst>
              <a:path w="486" h="1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67"/>
                </a:lnTo>
                <a:cubicBezTo>
                  <a:pt x="4" y="171"/>
                  <a:pt x="7" y="174"/>
                  <a:pt x="10" y="175"/>
                </a:cubicBezTo>
                <a:cubicBezTo>
                  <a:pt x="4" y="174"/>
                  <a:pt x="0" y="169"/>
                  <a:pt x="0" y="1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67550" y="3714750"/>
            <a:ext cx="266700" cy="26670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48550" y="3733800"/>
            <a:ext cx="2428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0B981"/>
                </a:solidFill>
                <a:latin typeface="Microsoft YaHei"/>
                <a:ea typeface="Microsoft YaHei"/>
              </a:rPr>
              <a:t>Deterministic Logic Layer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67550" y="4095750"/>
            <a:ext cx="41338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Handles mathematical precision: critical path calculation, plan validation, multi-member assignment, rescue workflow. Reliable and reproducible.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00850" y="5381625"/>
            <a:ext cx="462915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Hybrid approach</a:t>
            </a:r>
            <a:r>
              <a:rPr lang="en-US" sz="1200">
                <a:solidFill>
                  <a:srgbClr val="0F172A"/>
                </a:solidFill>
                <a:latin typeface="Microsoft YaHei"/>
                <a:ea typeface="Microsoft YaHei"/>
              </a:rPr>
              <a:t xml:space="preserve"> = flexibility + reliability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62000" y="63055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9728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6" name="" descr="&lt;Slide style={{ width: '1280px', height: '720px', padding: '20px 80px', background: '#FFFFFF', flexDirection: 'column' }}&gt;&#10;  &lt;Box style={{ height: 100, flexDirection: 'column', justifyContent: 'center' }}&gt;&#10;    &lt;Text style={{ fontSize: 36, fontWeight: 'bold', color: '#0F172A' }}&gt;Six Agents, One Pipeline&lt;/Text&gt;&#10;  &lt;/Box&gt;&#10;  &lt;Box style={{ flex: 1, flexDirection: 'row', gap: 0 }}&gt;&#10;    &lt;Box style={{ width: '30%', padding: '24px 20px', background: 'linear-gradient(160deg, #3B82F6 0%, #06B6D4 100%)', borderRadius: 16, flexDirection: 'column', justifyContent: 'center', alignItems: 'center', gap: 12 }}&gt;&#10;      &lt;Text style={{ fontSize: 56, fontWeight: 'bold', color: '#FFFFFF' }}&gt;6&lt;/Text&gt;&#10;      &lt;Text style={{ fontSize: 20, fontWeight: '600', color: '#FFFFFF', opacity: 0.9 }}&gt;AGENTS&lt;/Text&gt;&#10;      &lt;Box style={{ width: 40, height: 2, background: '#FFFFFF', opacity: 0.3 }} /&gt;&#10;      &lt;Text style={{ fontSize: 14, color: '#FFFFFF', opacity: 0.8, textAlign: 'center', lineHeight: 1.5 }}&gt;Specialized roles from rubric parsing to deadline rescue&lt;/Text&gt;&#10;    &lt;/Box&gt;&#10;    &lt;Box style={{ flex: 1, flexDirection: 'column', gap: 8, paddingLeft: 24 }}&gt;&#10;      &lt;Box style={{ flexDirection: 'row', gap: 16, alignItems: 'center', padding: '12px 16px', background: '#F8FAFC', borderRadius: 10 }}&gt;&#10;        &lt;FAIcon name='file-text' style={{ fill: '#3B82F6', width: 28, height: 28 }} /&gt;&#10;        &lt;Box style={{ flex: 1 }}&gt;&#10;          &lt;Text style={{ fontSize: 18, fontWeight: 'bold', color: '#0F172A' }}&gt;Rubric Agent&lt;/Text&gt;&#10;          &lt;Text style={{ fontSize: 14, color: '#64748B' }}&gt;Parse rubric into structured criteria with weights and levels&lt;/Text&gt;&#10;        &lt;/Box&gt;&#10;        &lt;Box style={{ padding: '4px 12px', background: '#EFF6FF', borderRadius: 8 }}&gt;&lt;Text style={{ fontSize: 12, fontWeight: '600', color: '#3B82F6' }}&gt;LLM&lt;/Text&gt;&lt;/Box&gt;&#10;      &lt;/Box&gt;&#10;      &lt;Box style={{ flexDirection: 'row', gap: 16, alignItems: 'center', padding: '12px 16px', background: '#F8FAFC', borderRadius: 10 }}&gt;&#10;        &lt;FAIcon name='tasks' style={{ fill: '#3B82F6', width: 28, height: 28 }} /&gt;&#10;        &lt;Box style={{ flex: 1 }}&gt;&#10;          &lt;Text style={{ fontSize: 18, fontWeight: 'bold', color: '#0F172A' }}&gt;Task Agent&lt;/Text&gt;&#10;          &lt;Text style={{ fontSize: 14, color: '#64748B' }}&gt;Decompose criteria into actionable tasks with rubric coverage&lt;/Text&gt;&#10;        &lt;/Box&gt;&#10;        &lt;Box style={{ padding: '4px 12px', background: '#EFF6FF', borderRadius: 8 }}&gt;&lt;Text style={{ fontSize: 12, fontWeight: '600', color: '#3B82F6' }}&gt;LLM&lt;/Text&gt;&lt;/Box&gt;&#10;      &lt;/Box&gt;&#10;      &lt;Box style={{ flexDirection: 'row', gap: 16, alignItems: 'center', padding: '12px 16px', background: '#F8FAFC', borderRadius: 10 }}&gt;&#10;        &lt;FAIcon name='users-cog' style={{ fill: '#3B82F6', width: 28, height: 28 }} /&gt;&#10;        &lt;Box style={{ flex: 1 }}&gt;&#10;          &lt;Text style={{ fontSize: 18, fontWeight: 'bold', color: '#0F172A' }}&gt;Skill Agent&lt;/Text&gt;&#10;          &lt;Text style={{ fontSize: 14, color: '#64748B' }}&gt;Match tasks to team member skills and availability&lt;/Text&gt;&#10;        &lt;/Box&gt;&#10;        &lt;Box style={{ padding: '4px 12px', background: '#EFF6FF', borderRadius: 8 }}&gt;&lt;Text style={{ fontSize: 12, fontWeight: '600', color: '#3B82F6' }}&gt;LLM&lt;/Text&gt;&lt;/Box&gt;&#10;      &lt;/Box&gt;&#10;      &lt;Box style={{ flexDirection: 'row', gap: 16, alignItems: 'center', padding: '12px 16px', background: '#F0FDF4', borderRadius: 10 }}&gt;&#10;        &lt;FAIcon name='project-diagram' style={{ fill: '#10B981', width: 28, height: 28 }} /&gt;&#10;        &lt;Box style={{ flex: 1 }}&gt;&#10;          &lt;Text style={{ fontSize: 18, fontWeight: 'bold', color: '#0F172A' }}&gt;Critical Path&lt;/Text&gt;&#10;          &lt;Text style={{ fontSize: 14, color: '#64748B' }}&gt;CPM algorithm for deadline timeline and bottleneck detection&lt;/Text&gt;&#10;        &lt;/Box&gt;&#10;        &lt;Box style={{ padding: '4px 12px', background: '#F0FDF4', borderRadius: 8 }}&gt;&lt;Text style={{ fontSize: 12, fontWeight: '600', color: '#10B981' }}&gt;Det.&lt;/Text&gt;&lt;/Box&gt;&#10;      &lt;/Box&gt;&#10;      &lt;Box style={{ flexDirection: 'row', gap: 16, alignItems: 'center', padding: '12px 16px', background: '#F8FAFC', borderRadius: 10 }}&gt;&#10;        &lt;FAIcon name='exclamation-triangle' style={{ fill: '#3B82F6', width: 28, height: 28 }} /&gt;&#10;        &lt;Box style={{ flex: 1 }}&gt;&#10;          &lt;Text style={{ fontSize: 18, fontWeight: 'bold', color: '#0F172A' }}&gt;Risk Agent&lt;/Text&gt;&#10;          &lt;Text style={{ fontSize: 14, color: '#64748B' }}&gt;Identify 7 risk types with impact scoring and mitigation&lt;/Text&gt;&#10;        &lt;/Box&gt;&#10;        &lt;Box style={{ padding: '4px 12px', background: '#EFF6FF', borderRadius: 8 }}&gt;&lt;Text style={{ fontSize: 12, fontWeight: '600', color: '#3B82F6' }}&gt;LLM&lt;/Text&gt;&lt;/Box&gt;&#10;      &lt;/Box&gt;&#10;      &lt;Box style={{ flexDirection: 'row', gap: 16, alignItems: 'center', padding: '12px 16px', background: '#FEF3C7', borderRadius: 10 }}&gt;&#10;        &lt;FAIcon name='shield-alt' style={{ fill: '#F59E0B', width: 28, height: 28 }} /&gt;&#10;        &lt;Box style={{ flex: 1 }}&gt;&#10;          &lt;Text style={{ fontSize: 18, fontWeight: 'bold', color: '#0F172A' }}&gt;Rescue Agent&lt;/Text&gt;&#10;          &lt;Text style={{ fontSize: 14, color: '#64748B' }}&gt;Deterministic rescue workflow + before/after comparison&lt;/Text&gt;&#10;        &lt;/Box&gt;&#10;        &lt;Box style={{ padding: '4px 12px', background: '#FEF3C7', borderRadius: 8 }}&gt;&lt;Text style={{ fontSize: 12, fontWeight: '600', color: '#F59E0B' }}&gt;Hybrid&lt;/Text&gt;&lt;/Box&gt;&#10;      &lt;/Box&gt;&#10;    &lt;/Box&gt;&#10;  &lt;/Box&gt;&#10;  &lt;Box style={{ height: 60, flexDirection: 'row', justifyContent: 'space-between', alignItems: 'center' }}&gt;&#10;    &lt;Text style={{ fontSize: 14, color: '#94A3B8' }}&gt;TaskFlow AI&lt;/Text&gt;&#10;    &lt;Text style={{ fontSize: 14, color: '#94A3B8' }}&gt;05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Six Agents, One Pipeline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762000" y="1143000"/>
            <a:ext cx="3200400" cy="4953000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2200275" y="2762250"/>
            <a:ext cx="3333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191000" y="1143000"/>
            <a:ext cx="72390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43400" y="1314450"/>
            <a:ext cx="266700" cy="266700"/>
          </a:xfrm>
          <a:prstGeom prst="rect">
            <a:avLst/>
          </a:prstGeom>
          <a:ln/>
        </p:spPr>
      </p:pic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762500" y="1257300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Rubric Agent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762500" y="1466850"/>
            <a:ext cx="588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Parse rubric into structured criteria with weights and levels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10801350" y="1333500"/>
            <a:ext cx="476250" cy="219075"/>
          </a:xfrm>
          <a:prstGeom prst="roundRect">
            <a:avLst>
              <a:gd name="adj" fmla="val 3478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915650" y="13716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3B82F6"/>
                </a:solidFill>
                <a:latin typeface="Microsoft YaHei"/>
                <a:ea typeface="Microsoft YaHei"/>
              </a:rPr>
              <a:t>LLM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191000" y="1819275"/>
            <a:ext cx="72390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43400" y="1990725"/>
            <a:ext cx="266700" cy="266700"/>
          </a:xfrm>
          <a:prstGeom prst="rect">
            <a:avLst/>
          </a:prstGeom>
          <a:ln/>
        </p:spPr>
      </p:pic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762500" y="1933575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Task Agent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762500" y="2143125"/>
            <a:ext cx="588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Decompose criteria into actionable tasks with rubric coverage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10801350" y="2009775"/>
            <a:ext cx="476250" cy="219075"/>
          </a:xfrm>
          <a:prstGeom prst="roundRect">
            <a:avLst>
              <a:gd name="adj" fmla="val 3478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915650" y="20478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3B82F6"/>
                </a:solidFill>
                <a:latin typeface="Microsoft YaHei"/>
                <a:ea typeface="Microsoft YaHei"/>
              </a:rPr>
              <a:t>LLM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191000" y="2495550"/>
            <a:ext cx="72390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43400" y="2667000"/>
            <a:ext cx="266700" cy="26670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762500" y="2609850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Skill Agent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762500" y="2819400"/>
            <a:ext cx="588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Match tasks to team member skills and availability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0801350" y="2686050"/>
            <a:ext cx="476250" cy="219075"/>
          </a:xfrm>
          <a:prstGeom prst="roundRect">
            <a:avLst>
              <a:gd name="adj" fmla="val 3478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915650" y="27241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3B82F6"/>
                </a:solidFill>
                <a:latin typeface="Microsoft YaHei"/>
                <a:ea typeface="Microsoft YaHei"/>
              </a:rPr>
              <a:t>LLM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191000" y="3171825"/>
            <a:ext cx="7239000" cy="600075"/>
          </a:xfrm>
          <a:prstGeom prst="roundRect">
            <a:avLst>
              <a:gd name="adj" fmla="val 15873"/>
            </a:avLst>
          </a:prstGeom>
          <a:solidFill>
            <a:srgbClr val="F0FDF4"/>
          </a:solidFill>
          <a:ln/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343400" y="3343275"/>
            <a:ext cx="266700" cy="26670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762500" y="3286125"/>
            <a:ext cx="5895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Critical Path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762500" y="3495675"/>
            <a:ext cx="589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CPM algorithm for deadline timeline and bottleneck detection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10810875" y="3362325"/>
            <a:ext cx="466725" cy="219075"/>
          </a:xfrm>
          <a:prstGeom prst="roundRect">
            <a:avLst>
              <a:gd name="adj" fmla="val 34783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925175" y="34004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0B981"/>
                </a:solidFill>
                <a:latin typeface="Microsoft YaHei"/>
                <a:ea typeface="Microsoft YaHei"/>
              </a:rPr>
              <a:t>Det.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191000" y="3848100"/>
            <a:ext cx="72390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343400" y="4019550"/>
            <a:ext cx="266700" cy="266700"/>
          </a:xfrm>
          <a:prstGeom prst="rect">
            <a:avLst/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762500" y="3962400"/>
            <a:ext cx="5886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Risk Agent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762500" y="4171950"/>
            <a:ext cx="588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Identify 7 risk types with impact scoring and mitigation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10801350" y="4038600"/>
            <a:ext cx="476250" cy="219075"/>
          </a:xfrm>
          <a:prstGeom prst="roundRect">
            <a:avLst>
              <a:gd name="adj" fmla="val 3478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915650" y="40767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3B82F6"/>
                </a:solidFill>
                <a:latin typeface="Microsoft YaHei"/>
                <a:ea typeface="Microsoft YaHei"/>
              </a:rPr>
              <a:t>LLM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191000" y="4524375"/>
            <a:ext cx="7239000" cy="600075"/>
          </a:xfrm>
          <a:prstGeom prst="roundRect">
            <a:avLst>
              <a:gd name="adj" fmla="val 15873"/>
            </a:avLst>
          </a:prstGeom>
          <a:solidFill>
            <a:srgbClr val="FEF3C7"/>
          </a:solidFill>
          <a:ln/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343400" y="4695825"/>
            <a:ext cx="266700" cy="266700"/>
          </a:xfrm>
          <a:prstGeom prst="rect">
            <a:avLst/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762500" y="4638675"/>
            <a:ext cx="5734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Rescue Agent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762500" y="4848225"/>
            <a:ext cx="573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Deterministic rescue workflow + before/after comparison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10648950" y="4714875"/>
            <a:ext cx="628650" cy="219075"/>
          </a:xfrm>
          <a:prstGeom prst="roundRect">
            <a:avLst>
              <a:gd name="adj" fmla="val 34783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763250" y="475297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59E0B"/>
                </a:solidFill>
                <a:latin typeface="Microsoft YaHei"/>
                <a:ea typeface="Microsoft YaHei"/>
              </a:rPr>
              <a:t>Hybrid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62000" y="63055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9728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962150" y="3524250"/>
            <a:ext cx="800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AGENTS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2171700" y="3867150"/>
            <a:ext cx="38100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52500" y="4000500"/>
            <a:ext cx="2819400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Specialized roles from rubric parsing to deadline rescue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2" name="" descr="&lt;Slide style={{ width: '1280px', height: '720px', padding: '20px 80px', background: '#FFFFFF', flexDirection: 'column' }}&gt;&#10;  &lt;Box style={{ height: 100, flexDirection: 'column', justifyContent: 'center' }}&gt;&#10;    &lt;Text style={{ fontSize: 36, fontWeight: 'bold', color: '#0F172A' }}&gt;Autonomous Deadline Defense&lt;/Text&gt;&#10;  &lt;/Box&gt;&#10;  &lt;Box style={{ flex: 1, flexDirection: 'column', gap: 24 }}&gt;&#10;    &lt;Box style={{ height: 300, flexDirection: 'row', gap: 24, alignItems: 'center' }}&gt;&#10;      &lt;Box style={{ flex: 1, flexDirection: 'column', gap: 12, padding: 20, background: '#FEF2F2', borderRadius: 12 }}&gt;&#10;        &lt;Text style={{ fontSize: 16, fontWeight: 'bold', color: '#EF4444' }}&gt;BEFORE RESCUE&lt;/Text&gt;&#10;        &lt;svg width={420} height={140} viewBox=&quot;0 0 420 140&quot;&gt;&#10;          &lt;rect x=&quot;0&quot; y=&quot;10&quot; width=&quot;420&quot; height=&quot;24&quot; rx=&quot;4&quot; fill=&quot;#EF4444&quot; opacity=&quot;0.9&quot; /&gt;&#10;          &lt;text x=&quot;210&quot; y=&quot;26&quot; textAnchor=&quot;middle&quot; fill=&quot;#FFFFFF&quot; fontSize=&quot;12&quot; fontWeight=&quot;bold&quot;&gt;High Risk - Task A: API Integration&lt;/text&gt;&#10;          &lt;rect x=&quot;0&quot; y=&quot;40&quot; width=&quot;420&quot; height=&quot;24&quot; rx=&quot;4&quot; fill=&quot;#EF4444&quot; opacity=&quot;0.8&quot; /&gt;&#10;          &lt;text x=&quot;210&quot; y=&quot;56&quot; textAnchor=&quot;middle&quot; fill=&quot;#FFFFFF&quot; fontSize=&quot;12&quot; fontWeight=&quot;bold&quot;&gt;High Risk - Task C: Database Design&lt;/text&gt;&#10;          &lt;rect x=&quot;0&quot; y=&quot;70&quot; width=&quot;320&quot; height=&quot;24&quot; rx=&quot;4&quot; fill=&quot;#F59E0B&quot; opacity=&quot;0.8&quot; /&gt;&#10;          &lt;text x=&quot;160&quot; y=&quot;86&quot; textAnchor=&quot;middle&quot; fill=&quot;#FFFFFF&quot; fontSize=&quot;12&quot; fontWeight=&quot;bold&quot;&gt;Medium Risk - Task F: Testing&lt;/text&gt;&#10;          &lt;rect x=&quot;0&quot; y=&quot;100&quot; width=&quot;180&quot; height=&quot;24&quot; rx=&quot;4&quot; fill=&quot;#F59E0B&quot; opacity=&quot;0.6&quot; /&gt;&#10;          &lt;text x=&quot;90&quot; y=&quot;116&quot; textAnchor=&quot;middle&quot; fill=&quot;#FFFFFF&quot; fontSize=&quot;12&quot; fontWeight=&quot;bold&quot;&gt;Medium - Task H: Docs&lt;/text&gt;&#10;        &lt;/svg&gt;&#10;        &lt;Box style={{ flexDirection: 'row', gap: 24, justifyContent: 'center' }}&gt;&#10;          &lt;Box style={{ flexDirection: 'column', alignItems: 'center' }}&gt;&#10;            &lt;Text style={{ fontSize: 32, fontWeight: 'bold', color: '#EF4444' }}&gt;4&lt;/Text&gt;&#10;            &lt;Text style={{ fontSize: 12, color: '#64748B' }}&gt;High-risk tasks&lt;/Text&gt;&#10;          &lt;/Box&gt;&#10;          &lt;Box style={{ flexDirection: 'column', alignItems: 'center' }}&gt;&#10;            &lt;Text style={{ fontSize: 32, fontWeight: 'bold', color: '#EF4444' }}&gt;0&lt;/Text&gt;&#10;            &lt;Text style={{ fontSize: 12, color: '#64748B' }}&gt;Day buffer&lt;/Text&gt;&#10;          &lt;/Box&gt;&#10;        &lt;/Box&gt;&#10;      &lt;/Box&gt;&#10;      &lt;Box style={{ width: 40, justifyContent: 'center', alignItems: 'center' }}&gt;&#10;        &lt;FAIcon name='arrow-right' style={{ fill: '#3B82F6', width: 32, height: 32 }} /&gt;&#10;      &lt;/Box&gt;&#10;      &lt;Box style={{ flex: 1, flexDirection: 'column', gap: 12, padding: 20, background: '#F0FDF4', borderRadius: 12 }}&gt;&#10;        &lt;Text style={{ fontSize: 16, fontWeight: 'bold', color: '#10B981' }}&gt;AFTER RESCUE&lt;/Text&gt;&#10;        &lt;svg width={420} height={140} viewBox=&quot;0 0 420 140&quot;&gt;&#10;          &lt;rect x=&quot;0&quot; y=&quot;10&quot; width=&quot;120&quot; height=&quot;24&quot; rx=&quot;4&quot; fill=&quot;#F59E0B&quot; opacity=&quot;0.6&quot; /&gt;&#10;          &lt;text x=&quot;60&quot; y=&quot;26&quot; textAnchor=&quot;middle&quot; fill=&quot;#FFFFFF&quot; fontSize=&quot;12&quot; fontWeight=&quot;bold&quot;&gt;Med - Task A&lt;/text&gt;&#10;          &lt;rect x=&quot;0&quot; y=&quot;40&quot; width=&quot;80&quot; height=&quot;24&quot; rx=&quot;4&quot; fill=&quot;#10B981&quot; opacity=&quot;0.5&quot; /&gt;&#10;          &lt;text x=&quot;40&quot; y=&quot;56&quot; textAnchor=&quot;middle&quot; fill=&quot;#FFFFFF&quot; fontSize=&quot;12&quot; fontWeight=&quot;bold&quot;&gt;Low - Task C&lt;/text&gt;&#10;          &lt;rect x=&quot;0&quot; y=&quot;70&quot; width=&quot;60&quot; height=&quot;24&quot; rx=&quot;4&quot; fill=&quot;#10B981&quot; opacity=&quot;0.4&quot; /&gt;&#10;          &lt;text x=&quot;30&quot; y=&quot;86&quot; textAnchor=&quot;middle&quot; fill=&quot;#FFFFFF&quot; fontSize=&quot;12&quot; fontWeight=&quot;bold&quot;&gt;Low - F&lt;/text&gt;&#10;          &lt;rect x=&quot;0&quot; y=&quot;100&quot; width=&quot;40&quot; height=&quot;24&quot; rx=&quot;4&quot; fill=&quot;#10B981&quot; opacity=&quot;0.3&quot; /&gt;&#10;          &lt;text x=&quot;20&quot; y=&quot;116&quot; textAnchor=&quot;middle&quot; fill=&quot;#FFFFFF&quot; fontSize=&quot;12&quot; fontWeight=&quot;bold&quot;&gt;Low&lt;/text&gt;&#10;        &lt;/svg&gt;&#10;        &lt;Box style={{ flexDirection: 'row', gap: 24, justifyContent: 'center' }}&gt;&#10;          &lt;Box style={{ flexDirection: 'column', alignItems: 'center' }}&gt;&#10;            &lt;Text style={{ fontSize: 32, fontWeight: 'bold', color: '#10B981' }}&gt;1&lt;/Text&gt;&#10;            &lt;Text style={{ fontSize: 12, color: '#64748B' }}&gt;Medium-risk task&lt;/Text&gt;&#10;          &lt;/Box&gt;&#10;          &lt;Box style={{ flexDirection: 'column', alignItems: 'center' }}&gt;&#10;            &lt;Text style={{ fontSize: 32, fontWeight: 'bold', color: '#10B981' }}&gt;3&lt;/Text&gt;&#10;            &lt;Text style={{ fontSize: 12, color: '#64748B' }}&gt;Day buffer&lt;/Text&gt;&#10;          &lt;/Box&gt;&#10;        &lt;/Box&gt;&#10;      &lt;/Box&gt;&#10;    &lt;/Box&gt;&#10;    &lt;Box style={{ flexDirection: 'row', gap: 16 }}&gt;&#10;      &lt;Box style={{ flex: 1, padding: 16, background: '#F8FAFC', borderRadius: 10, borderLeft: '4px solid #3B82F6', flexDirection: 'column', gap: 8 }}&gt;&#10;        &lt;Text style={{ fontSize: 16, fontWeight: 'bold', color: '#0F172A' }}&gt;Task Reassignment&lt;/Text&gt;&#10;        &lt;Text style={{ fontSize: 14, color: '#64748B', lineHeight: 1.4 }}&gt;Redistribute based on skill match scores&lt;/Text&gt;&#10;        &lt;Text style={{ fontSize: 24, fontWeight: 'bold', color: '#3B82F6' }}&gt;-60% risk&lt;/Text&gt;&#10;      &lt;/Box&gt;&#10;      &lt;Box style={{ flex: 1, padding: 16, background: '#F8FAFC', borderRadius: 10, borderLeft: '4px solid #06B6D4', flexDirection: 'column', gap: 8 }}&gt;&#10;        &lt;Text style={{ fontSize: 16, fontWeight: 'bold', color: '#0F172A' }}&gt;Priority Reordering&lt;/Text&gt;&#10;        &lt;Text style={{ fontSize: 14, color: '#64748B', lineHeight: 1.4 }}&gt;Critical path optimization&lt;/Text&gt;&#10;        &lt;Text style={{ fontSize: 24, fontWeight: 'bold', color: '#06B6D4' }}&gt;+2.5 days&lt;/Text&gt;&#10;      &lt;/Box&gt;&#10;      &lt;Box style={{ flex: 1, padding: 16, background: '#F8FAFC', borderRadius: 10, borderLeft: '4px solid #10B981', flexDirection: 'column', gap: 8 }}&gt;&#10;        &lt;Text style={{ fontSize: 16, fontWeight: 'bold', color: '#0F172A' }}&gt;Scope Adjustment&lt;/Text&gt;&#10;        &lt;Text style={{ fontSize: 14, color: '#64748B', lineHeight: 1.4 }}&gt;Negotiate deliverable scope&lt;/Text&gt;&#10;        &lt;Text style={{ fontSize: 24, fontWeight: 'bold', color: '#10B981' }}&gt;+3 day buffer&lt;/Text&gt;&#10;      &lt;/Box&gt;&#10;    &lt;/Box&gt;&#10;  &lt;/Box&gt;&#10;  &lt;Box style={{ height: 60, flexDirection: 'row', justifyContent: 'space-between', alignItems: 'center' }}&gt;&#10;    &lt;Text style={{ fontSize: 14, color: '#94A3B8' }}&gt;TaskFlow AI&lt;/Text&gt;&#10;    &lt;Text style={{ fontSize: 14, color: '#94A3B8' }}&gt;07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Autonomous Deadline Defense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62000" y="1247775"/>
            <a:ext cx="4914900" cy="2647950"/>
          </a:xfrm>
          <a:prstGeom prst="roundRect">
            <a:avLst>
              <a:gd name="adj" fmla="val 4317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52500" y="14382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F4444"/>
                </a:solidFill>
                <a:latin typeface="Microsoft YaHei"/>
                <a:ea typeface="Microsoft YaHei"/>
              </a:rPr>
              <a:t>BEFORE RESCUE</a:t>
            </a:r>
            <a:endParaRPr/>
          </a:p>
        </p:txBody>
      </p:sp>
      <p:pic>
        <p:nvPicPr>
          <p:cNvPr id="1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1743075"/>
            <a:ext cx="4000500" cy="133350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2724150" y="319087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2409825" y="3562350"/>
            <a:ext cx="80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High-risk tasks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648075" y="319087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448050" y="3562350"/>
            <a:ext cx="581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Day buffer</a:t>
            </a:r>
            <a:endParaRPr/>
          </a:p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43600" y="2419350"/>
            <a:ext cx="304800" cy="304800"/>
          </a:xfrm>
          <a:prstGeom prst="rect">
            <a:avLst/>
          </a:prstGeom>
          <a:ln/>
        </p:spPr>
      </p:pic>
      <p:sp>
        <p:nvSpPr>
          <p:cNvPr id="133" name=""/>
          <p:cNvSpPr/>
          <p:nvPr/>
        </p:nvSpPr>
        <p:spPr>
          <a:xfrm rot="0" flipH="0" flipV="0">
            <a:off x="6515100" y="1247775"/>
            <a:ext cx="4914900" cy="2647950"/>
          </a:xfrm>
          <a:prstGeom prst="roundRect">
            <a:avLst>
              <a:gd name="adj" fmla="val 4317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705600" y="14382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0B981"/>
                </a:solidFill>
                <a:latin typeface="Microsoft YaHei"/>
                <a:ea typeface="Microsoft YaHei"/>
              </a:rPr>
              <a:t>AFTER RESCUE</a:t>
            </a:r>
            <a:endParaRPr/>
          </a:p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705600" y="1743075"/>
            <a:ext cx="4000500" cy="133350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477250" y="319087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0B981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96250" y="3562350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Medium-risk task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477375" y="319087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0B981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277350" y="3562350"/>
            <a:ext cx="581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Day buffer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800100" y="4229100"/>
            <a:ext cx="3457575" cy="1152525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800100" y="4229100"/>
            <a:ext cx="3457575" cy="1152525"/>
          </a:xfrm>
          <a:custGeom>
            <a:pathLst>
              <a:path w="363" h="12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5"/>
                </a:lnTo>
                <a:cubicBezTo>
                  <a:pt x="4" y="118"/>
                  <a:pt x="6" y="120"/>
                  <a:pt x="9" y="121"/>
                </a:cubicBezTo>
                <a:cubicBezTo>
                  <a:pt x="4" y="120"/>
                  <a:pt x="0" y="116"/>
                  <a:pt x="0" y="11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2500" y="43815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Task Reassignment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52500" y="4648200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Redistribute based on skill match scores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52500" y="4953000"/>
            <a:ext cx="3114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Microsoft YaHei"/>
                <a:ea typeface="Microsoft YaHei"/>
              </a:rPr>
              <a:t>-60% risk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410075" y="4229100"/>
            <a:ext cx="3448050" cy="1152525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4410075" y="4229100"/>
            <a:ext cx="3448050" cy="1152525"/>
          </a:xfrm>
          <a:custGeom>
            <a:pathLst>
              <a:path w="362" h="12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5"/>
                </a:lnTo>
                <a:cubicBezTo>
                  <a:pt x="4" y="118"/>
                  <a:pt x="6" y="120"/>
                  <a:pt x="9" y="121"/>
                </a:cubicBezTo>
                <a:cubicBezTo>
                  <a:pt x="4" y="120"/>
                  <a:pt x="0" y="116"/>
                  <a:pt x="0" y="11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562475" y="438150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Priority Reordering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562475" y="4648200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Critical path optimization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562475" y="4953000"/>
            <a:ext cx="3105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B6D4"/>
                </a:solidFill>
                <a:latin typeface="Microsoft YaHei"/>
                <a:ea typeface="Microsoft YaHei"/>
              </a:rPr>
              <a:t>+2.5 days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8010525" y="4229100"/>
            <a:ext cx="3457575" cy="1152525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8010525" y="4229100"/>
            <a:ext cx="3457575" cy="1152525"/>
          </a:xfrm>
          <a:custGeom>
            <a:pathLst>
              <a:path w="363" h="12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5"/>
                </a:lnTo>
                <a:cubicBezTo>
                  <a:pt x="4" y="118"/>
                  <a:pt x="6" y="120"/>
                  <a:pt x="9" y="121"/>
                </a:cubicBezTo>
                <a:cubicBezTo>
                  <a:pt x="4" y="120"/>
                  <a:pt x="0" y="116"/>
                  <a:pt x="0" y="11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162925" y="43815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Scope Adjustment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62925" y="4648200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Negotiate deliverable scope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162925" y="4953000"/>
            <a:ext cx="3114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0B981"/>
                </a:solidFill>
                <a:latin typeface="Microsoft YaHei"/>
                <a:ea typeface="Microsoft YaHei"/>
              </a:rPr>
              <a:t>+3 day buffer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62000" y="63055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9728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7" name="" descr="&lt;Slide style={{ width: '1280px', height: '720px', padding: '20px 80px', background: '#FFFFFF', flexDirection: 'column' }}&gt;&#10;  &lt;Box style={{ height: 100, flexDirection: 'column', justifyContent: 'center' }}&gt;&#10;    &lt;Text style={{ fontSize: 36, fontWeight: 'bold', color: '#0F172A' }}&gt;Meaningful WorkBuddy Integration&lt;/Text&gt;&#10;  &lt;/Box&gt;&#10;  &lt;Box style={{ flex: 1, flexDirection: 'row', gap: 40 }}&gt;&#10;    &lt;Box style={{ width: '60%', flexDirection: 'column', gap: 14, justifyContent: 'center' }}&gt;&#10;      &lt;Box style={{ flexDirection: 'row', gap: 16, alignItems: 'flex-start', padding: '16px 20px', background: '#F8FAFC', borderRadius: 10, borderLeft: '4px solid #3B82F6' }}&gt;&#10;        &lt;FAIcon name='code' style={{ fill: '#3B82F6', width: 32, height: 32 }} /&gt;&#10;        &lt;Box style={{ flex: 1 }}&gt;&#10;          &lt;Text style={{ fontSize: 18, fontWeight: 'bold', color: '#0F172A' }}&gt;Primary Development Platform&lt;/Text&gt;&#10;          &lt;Text style={{ fontSize: 15, color: '#64748B', lineHeight: 1.4 }}&gt;12 git commits, 23 source files - all code generated through WorkBuddy AI sessions&lt;/Text&gt;&#10;        &lt;/Box&gt;&#10;      &lt;/Box&gt;&#10;      &lt;Box style={{ flexDirection: 'row', gap: 16, alignItems: 'flex-start', padding: '16px 20px', background: '#F8FAFC', borderRadius: 10, borderLeft: '4px solid #06B6D4' }}&gt;&#10;        &lt;FAIcon name='puzzle-piece' style={{ fill: '#06B6D4', width: 32, height: 32 }} /&gt;&#10;        &lt;Box style={{ flex: 1 }}&gt;&#10;          &lt;Text style={{ fontSize: 18, fontWeight: 'bold', color: '#0F172A' }}&gt;WorkBuddy Skills System&lt;/Text&gt;&#10;          &lt;Text style={{ fontSize: 15, color: '#64748B', lineHeight: 1.4 }}&gt;cloud-service, tencent-pptx, library skills actively used in development&lt;/Text&gt;&#10;        &lt;/Box&gt;&#10;      &lt;/Box&gt;&#10;      &lt;Box style={{ flexDirection: 'row', gap: 16, alignItems: 'flex-start', padding: '16px 20px', background: '#F8FAFC', borderRadius: 10, borderLeft: '4px solid #3B82F6' }}&gt;&#10;        &lt;FAIcon name='plug' style={{ fill: '#3B82F6', width: 32, height: 32 }} /&gt;&#10;        &lt;Box style={{ flex: 1 }}&gt;&#10;          &lt;Text style={{ fontSize: 18, fontWeight: 'bold', color: '#0F172A' }}&gt;WorkBuddy MCP Tools&lt;/Text&gt;&#10;          &lt;Text style={{ fontSize: 15, color: '#64748B', lineHeight: 1.4 }}&gt;workbuddy_cloud_service (activation), workbuddy_sites_deploy (publishing)&lt;/Text&gt;&#10;        &lt;/Box&gt;&#10;      &lt;/Box&gt;&#10;      &lt;Box style={{ flexDirection: 'row', gap: 16, alignItems: 'flex-start', padding: '16px 20px', background: '#F8FAFC', borderRadius: 10, borderLeft: '4px solid #06B6D4' }}&gt;&#10;        &lt;FAIcon name='cloud' style={{ fill: '#06B6D4', width: 32, height: 32 }} /&gt;&#10;        &lt;Box style={{ flex: 1 }}&gt;&#10;          &lt;Text style={{ fontSize: 18, fontWeight: 'bold', color: '#0F172A' }}&gt;WorkBuddy Cloud SDK&lt;/Text&gt;&#10;          &lt;Text style={{ fontSize: 15, color: '#64748B', lineHeight: 1.4 }}&gt;@tencent-ai/workbuddy-cloud-sdk integrated in codebase for LLM + database&lt;/Text&gt;&#10;        &lt;/Box&gt;&#10;      &lt;/Box&gt;&#10;      &lt;Box style={{ flexDirection: 'row', gap: 16, alignItems: 'flex-start', padding: '16px 20px', background: '#F8FAFC', borderRadius: 10, borderLeft: '4px solid #3B82F6' }}&gt;&#10;        &lt;FAIcon name='database' style={{ fill: '#3B82F6', width: 32, height: 32 }} /&gt;&#10;        &lt;Box style={{ flex: 1 }}&gt;&#10;          &lt;Text style={{ fontSize: 18, fontWeight: 'bold', color: '#0F172A' }}&gt;WorkBuddy Memory System&lt;/Text&gt;&#10;          &lt;Text style={{ fontSize: 15, color: '#64748B', lineHeight: 1.4 }}&gt;Structured work logs in .workbuddy-ai/memory/ + 5 .genie project files&lt;/Text&gt;&#10;        &lt;/Box&gt;&#10;      &lt;/Box&gt;&#10;    &lt;/Box&gt;&#10;    &lt;Box style={{ width: '40%', flexDirection: 'column', justifyContent: 'center', alignItems: 'center', gap: 24, padding: 32, background: 'linear-gradient(160deg, #0F172A 0%, #1E3A5F 100%)', borderRadius: 16 }}&gt;&#10;      &lt;FAIcon name='rocket' style={{ fill: '#06B6D4', width: 64, height: 64 }} /&gt;&#10;      &lt;Text style={{ fontSize: 24, fontWeight: 'bold', color: '#FFFFFF', textAlign: 'center', lineHeight: 1.4 }}&gt;Not just chat.&lt;/Text&gt;&#10;      &lt;Text style={{ fontSize: 18, color: '#94A3B8', textAlign: 'center', lineHeight: 1.5 }}&gt;WorkBuddy AI is the &lt;span style={{ fontWeight: 'bold', color: '#06B6D4' }}&gt;primary execution platform&lt;/span&gt; for this entire project.&lt;/Text&gt;&#10;      &lt;Box style={{ width: 60, height: 2, background: '#06B6D4' }} /&gt;&#10;      &lt;Text style={{ fontSize: 14, color: '#64748B', textAlign: 'center' }}&gt;Track 2 Criteria: Meaningful Use of WorkBuddy&lt;/Text&gt;&#10;    &lt;/Box&gt;&#10;  &lt;/Box&gt;&#10;  &lt;Box style={{ height: 60, flexDirection: 'row', justifyContent: 'space-between', alignItems: 'center' }}&gt;&#10;    &lt;Text style={{ fontSize: 14, color: '#94A3B8' }}&gt;TaskFlow AI&lt;/Text&gt;&#10;    &lt;Text style={{ fontSize: 14, color: '#94A3B8' }}&gt;08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Meaningful WorkBuddy Integration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00100" y="1209675"/>
            <a:ext cx="6172200" cy="1000125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800100" y="1209675"/>
            <a:ext cx="6172200" cy="1000125"/>
          </a:xfrm>
          <a:custGeom>
            <a:pathLst>
              <a:path w="648" h="10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9"/>
                </a:lnTo>
                <a:cubicBezTo>
                  <a:pt x="4" y="102"/>
                  <a:pt x="6" y="104"/>
                  <a:pt x="9" y="105"/>
                </a:cubicBezTo>
                <a:cubicBezTo>
                  <a:pt x="4" y="104"/>
                  <a:pt x="0" y="100"/>
                  <a:pt x="0" y="9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90600" y="1362075"/>
            <a:ext cx="304800" cy="304800"/>
          </a:xfrm>
          <a:prstGeom prst="rect">
            <a:avLst/>
          </a:prstGeom>
          <a:ln/>
        </p:spPr>
      </p:pic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447800" y="136207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Primary Development Platform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447800" y="1571625"/>
            <a:ext cx="5295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12 git commits, 23 source files - all code generated through WorkBuddy AI sessions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00100" y="2343150"/>
            <a:ext cx="61722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800100" y="2343150"/>
            <a:ext cx="6172200" cy="762000"/>
          </a:xfrm>
          <a:custGeom>
            <a:pathLst>
              <a:path w="648" h="8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4"/>
                </a:lnTo>
                <a:cubicBezTo>
                  <a:pt x="4" y="77"/>
                  <a:pt x="6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90600" y="2495550"/>
            <a:ext cx="304800" cy="3048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447800" y="249555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WorkBuddy Skills System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447800" y="2705100"/>
            <a:ext cx="5295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cloud-service, tencent-pptx, library skills actively used in development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00100" y="3238500"/>
            <a:ext cx="61722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800100" y="3238500"/>
            <a:ext cx="6172200" cy="762000"/>
          </a:xfrm>
          <a:custGeom>
            <a:pathLst>
              <a:path w="648" h="8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4"/>
                </a:lnTo>
                <a:cubicBezTo>
                  <a:pt x="4" y="77"/>
                  <a:pt x="6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90600" y="3390900"/>
            <a:ext cx="304800" cy="30480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447800" y="339090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WorkBuddy MCP Tools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447800" y="3600450"/>
            <a:ext cx="5295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workbuddy_cloud_service (activation), workbuddy_sites_deploy (publishing)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00100" y="4133850"/>
            <a:ext cx="6172200" cy="1000125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800100" y="4133850"/>
            <a:ext cx="6172200" cy="1000125"/>
          </a:xfrm>
          <a:custGeom>
            <a:pathLst>
              <a:path w="648" h="10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9"/>
                </a:lnTo>
                <a:cubicBezTo>
                  <a:pt x="4" y="102"/>
                  <a:pt x="6" y="104"/>
                  <a:pt x="9" y="105"/>
                </a:cubicBezTo>
                <a:cubicBezTo>
                  <a:pt x="4" y="104"/>
                  <a:pt x="0" y="100"/>
                  <a:pt x="0" y="9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90600" y="4286250"/>
            <a:ext cx="304800" cy="3048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447800" y="428625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WorkBuddy Cloud SDK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447800" y="4495800"/>
            <a:ext cx="5295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@tencent-ai/workbuddy-cloud-sdk integrated in codebase for LLM + database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800100" y="5267325"/>
            <a:ext cx="61722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800100" y="5267325"/>
            <a:ext cx="6172200" cy="762000"/>
          </a:xfrm>
          <a:custGeom>
            <a:pathLst>
              <a:path w="648" h="8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4"/>
                </a:lnTo>
                <a:cubicBezTo>
                  <a:pt x="4" y="77"/>
                  <a:pt x="6" y="79"/>
                  <a:pt x="9" y="80"/>
                </a:cubicBezTo>
                <a:cubicBezTo>
                  <a:pt x="4" y="79"/>
                  <a:pt x="0" y="75"/>
                  <a:pt x="0" y="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90600" y="5419725"/>
            <a:ext cx="304800" cy="304800"/>
          </a:xfrm>
          <a:prstGeom prst="rect">
            <a:avLst/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447800" y="541972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WorkBuddy Memory System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447800" y="5629275"/>
            <a:ext cx="52959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Structured work logs in .workbuddy-ai/memory/ + 5 .genie project files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7315200" y="1143000"/>
            <a:ext cx="4114800" cy="4953000"/>
          </a:xfrm>
          <a:prstGeom prst="roundRect">
            <a:avLst>
              <a:gd name="adj" fmla="val 3704"/>
            </a:avLst>
          </a:prstGeom>
          <a:gradFill>
            <a:gsLst>
              <a:gs pos="0">
                <a:srgbClr val="0F172A"/>
              </a:gs>
              <a:gs pos="100000">
                <a:srgbClr val="1E3A5F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067800" y="2266950"/>
            <a:ext cx="609600" cy="6096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591550" y="3105150"/>
            <a:ext cx="1562100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Not just chat.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620000" y="3724275"/>
            <a:ext cx="3505200" cy="6191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WorkBuddy AI is the </a:t>
            </a:r>
            <a:r>
              <a:rPr lang="en-US" sz="1350" b="1">
                <a:solidFill>
                  <a:srgbClr val="06B6D4"/>
                </a:solidFill>
                <a:latin typeface="Microsoft YaHei"/>
                <a:ea typeface="Microsoft YaHei"/>
              </a:rPr>
              <a:t>primary execution platform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for this entire project.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9086850" y="4572000"/>
            <a:ext cx="571500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886700" y="4819650"/>
            <a:ext cx="29813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Track 2 Criteria: Meaningful Use of WorkBuddy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62000" y="63055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09728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3" name="" descr="&lt;Slide style={{ width: '1280px', height: '720px', padding: '20px 80px', background: '#FFFFFF', flexDirection: 'column' }}&gt;&#10;  &lt;Box style={{ height: 100, flexDirection: 'column', justifyContent: 'center' }}&gt;&#10;    &lt;Text style={{ fontSize: 36, fontWeight: 'bold', color: '#0F172A' }}&gt;Stack and Team&lt;/Text&gt;&#10;  &lt;/Box&gt;&#10;  &lt;Box style={{ flex: 1, flexDirection: 'row', gap: 0 }}&gt;&#10;    &lt;Box style={{ width: '30%', padding: '24px 20px', background: 'linear-gradient(160deg, #3B82F6 0%, #06B6D4 100%)', borderRadius: 16, flexDirection: 'column', justifyContent: 'center', alignItems: 'center', gap: 12 }}&gt;&#10;      &lt;FAIcon name='layer-group' style={{ fill: '#FFFFFF', width: 48, height: 48 }} /&gt;&#10;      &lt;Text style={{ fontSize: 24, fontWeight: 'bold', color: '#FFFFFF' }}&gt;STACK&lt;/Text&gt;&#10;      &lt;Box style={{ width: 40, height: 2, background: '#FFFFFF', opacity: 0.3 }} /&gt;&#10;      &lt;Text style={{ fontSize: 20, fontWeight: 'bold', color: '#FFFFFF', opacity: 0.9 }}&gt;TEAM&lt;/Text&gt;&#10;    &lt;/Box&gt;&#10;    &lt;Box style={{ flex: 1, flexDirection: 'column', gap: 24, paddingLeft: 24, justifyContent: 'center' }}&gt;&#10;      &lt;Box style={{ flexDirection: 'column', gap: 12 }}&gt;&#10;        &lt;Text style={{ fontSize: 18, fontWeight: 'bold', color: '#3B82F6' }}&gt;TECH STACK&lt;/Text&gt;&#10;        &lt;Box style={{ flexDirection: 'row', gap: 8, flexWrap: 'wrap' }}&gt;&#10;          &lt;Box style={{ padding: '8px 16px', background: '#EFF6FF', borderRadius: 8 }}&gt;&lt;Text style={{ fontSize: 14, fontWeight: '600', color: '#3B82F6' }}&gt;Next.js 14&lt;/Text&gt;&lt;/Box&gt;&#10;          &lt;Box style={{ padding: '8px 16px', background: '#EFF6FF', borderRadius: 8 }}&gt;&lt;Text style={{ fontSize: 14, fontWeight: '600', color: '#3B82F6' }}&gt;TypeScript&lt;/Text&gt;&lt;/Box&gt;&#10;          &lt;Box style={{ padding: '8px 16px', background: '#EFF6FF', borderRadius: 8 }}&gt;&lt;Text style={{ fontSize: 14, fontWeight: '600', color: '#3B82F6' }}&gt;Tailwind CSS&lt;/Text&gt;&lt;/Box&gt;&#10;          &lt;Box style={{ padding: '8px 16px', background: '#EFF6FF', borderRadius: 8 }}&gt;&lt;Text style={{ fontSize: 14, fontWeight: '600', color: '#3B82F6' }}&gt;Zustand&lt;/Text&gt;&lt;/Box&gt;&#10;          &lt;Box style={{ padding: '8px 16px', background: '#EFF6FF', borderRadius: 8 }}&gt;&lt;Text style={{ fontSize: 14, fontWeight: '600', color: '#3B82F6' }}&gt;Recharts&lt;/Text&gt;&lt;/Box&gt;&#10;          &lt;Box style={{ padding: '8px 16px', background: '#EFF6FF', borderRadius: 8 }}&gt;&lt;Text style={{ fontSize: 14, fontWeight: '600', color: '#3B82F6' }}&gt;@dnd-kit&lt;/Text&gt;&lt;/Box&gt;&#10;          &lt;Box style={{ padding: '8px 16px', background: '#F0FDF4', borderRadius: 8 }}&gt;&lt;Text style={{ fontSize: 14, fontWeight: '600', color: '#10B981' }}&gt;WorkBuddy Cloud SDK&lt;/Text&gt;&lt;/Box&gt;&#10;          &lt;Box style={{ padding: '8px 16px', background: '#FEF3C7', borderRadius: 8 }}&gt;&lt;Text style={{ fontSize: 14, fontWeight: '600', color: '#F59E0B' }}&gt;SovernStack LLM (GPT-OSS 120B)&lt;/Text&gt;&lt;/Box&gt;&#10;        &lt;/Box&gt;&#10;      &lt;/Box&gt;&#10;      &lt;Box style={{ width: '100%', height: 1, background: '#E2E8F0' }} /&gt;&#10;      &lt;Box style={{ flexDirection: 'column', gap: 12 }}&gt;&#10;        &lt;Text style={{ fontSize: 18, fontWeight: 'bold', color: '#10B981' }}&gt;TEAM DIVISION&lt;/Text&gt;&#10;        &lt;Box style={{ flexDirection: 'row', gap: 20 }}&gt;&#10;          &lt;Box style={{ flex: 1, padding: 16, background: '#F8FAFC', borderRadius: 10, borderLeft: '4px solid #3B82F6', flexDirection: 'column', gap: 8 }}&gt;&#10;            &lt;Text style={{ fontSize: 16, fontWeight: 'bold', color: '#0F172A' }}&gt;Backend / LLM&lt;/Text&gt;&#10;            &lt;Text style={{ fontSize: 14, color: '#64748B', lineHeight: 1.4 }}&gt;6-agent pipeline, prompts, deterministic logic, API routes&lt;/Text&gt;&#10;          &lt;/Box&gt;&#10;          &lt;Box style={{ flex: 1, padding: 16, background: '#F8FAFC', borderRadius: 10, borderLeft: '4px solid #06B6D4', flexDirection: 'column', gap: 8 }}&gt;&#10;            &lt;Text style={{ fontSize: 16, fontWeight: 'bold', color: '#0F172A' }}&gt;Frontend&lt;/Text&gt;&#10;            &lt;Text style={{ fontSize: 14, color: '#64748B', lineHeight: 1.4 }}&gt;UI components, Kanban board, Gantt chart, rescue modal&lt;/Text&gt;&#10;          &lt;/Box&gt;&#10;        &lt;/Box&gt;&#10;      &lt;/Box&gt;&#10;    &lt;/Box&gt;&#10;  &lt;/Box&gt;&#10;  &lt;Box style={{ height: 60, flexDirection: 'row', justifyContent: 'space-between', alignItems: 'center' }}&gt;&#10;    &lt;Text style={{ fontSize: 14, color: '#94A3B8' }}&gt;TaskFlow AI&lt;/Text&gt;&#10;    &lt;Text style={{ fontSize: 14, color: '#94A3B8' }}&gt;09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2000" y="457200"/>
            <a:ext cx="1066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Stack and Team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62000" y="1143000"/>
            <a:ext cx="3200400" cy="4953000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133600" y="2962275"/>
            <a:ext cx="457200" cy="45720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990725" y="3533775"/>
            <a:ext cx="752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STACK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191000" y="2200275"/>
            <a:ext cx="723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Microsoft YaHei"/>
                <a:ea typeface="Microsoft YaHei"/>
              </a:rPr>
              <a:t>TECH STACK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4191000" y="2524125"/>
            <a:ext cx="98107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343400" y="2600325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Next.js 14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248275" y="2524125"/>
            <a:ext cx="101917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400675" y="2600325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TypeScript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343650" y="2524125"/>
            <a:ext cx="115252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496050" y="260032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Tailwind CSS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572375" y="2524125"/>
            <a:ext cx="857250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724775" y="260032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Zustand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505825" y="2524125"/>
            <a:ext cx="88582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658225" y="2600325"/>
            <a:ext cx="581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Recharts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9467850" y="2524125"/>
            <a:ext cx="94297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620250" y="2600325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>@dnd-kit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191000" y="2914650"/>
            <a:ext cx="1857375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343400" y="2990850"/>
            <a:ext cx="1552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0B981"/>
                </a:solidFill>
                <a:latin typeface="Microsoft YaHei"/>
                <a:ea typeface="Microsoft YaHei"/>
              </a:rPr>
              <a:t>WorkBuddy Cloud SDK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124575" y="2914650"/>
            <a:ext cx="2571750" cy="314325"/>
          </a:xfrm>
          <a:prstGeom prst="roundRect">
            <a:avLst>
              <a:gd name="adj" fmla="val 24242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276975" y="299085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Microsoft YaHei"/>
                <a:ea typeface="Microsoft YaHei"/>
              </a:rPr>
              <a:t>SovernStack LLM (GPT-OSS 120B)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191000" y="3457575"/>
            <a:ext cx="723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191000" y="3695700"/>
            <a:ext cx="723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0B981"/>
                </a:solidFill>
                <a:latin typeface="Microsoft YaHei"/>
                <a:ea typeface="Microsoft YaHei"/>
              </a:rPr>
              <a:t>TEAM DIVISION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229100" y="4019550"/>
            <a:ext cx="352425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4229100" y="4019550"/>
            <a:ext cx="3524250" cy="1028700"/>
          </a:xfrm>
          <a:custGeom>
            <a:pathLst>
              <a:path w="370" h="10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2"/>
                </a:lnTo>
                <a:cubicBezTo>
                  <a:pt x="4" y="105"/>
                  <a:pt x="6" y="107"/>
                  <a:pt x="9" y="108"/>
                </a:cubicBezTo>
                <a:cubicBezTo>
                  <a:pt x="4" y="107"/>
                  <a:pt x="0" y="103"/>
                  <a:pt x="0" y="9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381500" y="417195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Backend / LLM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381500" y="4438650"/>
            <a:ext cx="31813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6-agent pipeline, prompts, deterministic logic, API routes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7943850" y="4019550"/>
            <a:ext cx="3524250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7943850" y="4019550"/>
            <a:ext cx="3524250" cy="1028700"/>
          </a:xfrm>
          <a:custGeom>
            <a:pathLst>
              <a:path w="370" h="10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2"/>
                </a:lnTo>
                <a:cubicBezTo>
                  <a:pt x="4" y="105"/>
                  <a:pt x="6" y="107"/>
                  <a:pt x="9" y="108"/>
                </a:cubicBezTo>
                <a:cubicBezTo>
                  <a:pt x="4" y="107"/>
                  <a:pt x="0" y="103"/>
                  <a:pt x="0" y="9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096250" y="417195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Frontend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096250" y="4438650"/>
            <a:ext cx="31813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UI components, Kanban board, Gantt chart, rescue modal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62000" y="63055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9728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2171700" y="3924300"/>
            <a:ext cx="38100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2076450" y="40576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TEAM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0" name="" descr="&lt;Slide style={{ width: '1280px', height: '720px', padding: 0, background: '#0F172A', position: 'relative', overflow: 'hidden' }}&gt;&#10;  &lt;svg width={1280} height={720} viewBox=&quot;0 0 1280 720&quot; style={{ position: 'absolute', top: 0, left: 0 }}&gt;&#10;    &lt;defs&gt;&#10;      &lt;linearGradient id=&quot;endBgGrad&quot; x1=&quot;0%&quot; y1=&quot;0%&quot; x2=&quot;100%&quot; y2=&quot;100%&quot;&gt;&#10;        &lt;stop offset=&quot;0%&quot; stopColor=&quot;#0F172A&quot; /&gt;&#10;        &lt;stop offset=&quot;50%&quot; stopColor=&quot;#1E3A5F&quot; /&gt;&#10;        &lt;stop offset=&quot;100%&quot; stopColor=&quot;#0F172A&quot; /&gt;&#10;      &lt;/linearGradient&gt;&#10;    &lt;/defs&gt;&#10;    &lt;rect width=&quot;1280&quot; height=&quot;720&quot; fill=&quot;url(#endBgGrad)&quot; /&gt;&#10;    &lt;circle cx=&quot;200&quot; cy=&quot;200&quot; r=&quot;150&quot; fill=&quot;#3B82F6&quot; opacity=&quot;0.06&quot; /&gt;&#10;    &lt;circle cx=&quot;1080&quot; cy=&quot;520&quot; r=&quot;200&quot; fill=&quot;#06B6D4&quot; opacity=&quot;0.05&quot; /&gt;&#10;    &lt;circle cx=&quot;640&quot; cy=&quot;360&quot; r=&quot;80&quot; fill=&quot;#06B6D4&quot; opacity=&quot;0.08&quot; /&gt;&#10;    &lt;line x1=&quot;0&quot; y1=&quot;360&quot; x2=&quot;1280&quot; y2=&quot;360&quot; stroke=&quot;#3B82F6&quot; strokeWidth=&quot;1&quot; opacity=&quot;0.1&quot; /&gt;&#10;  &lt;/svg&gt;&#10;  &lt;Box style={{ position: 'relative', zIndex: 1, height: '720px', flexDirection: 'column', justifyContent: 'center', alignItems: 'center', gap: 32 }}&gt;&#10;    &lt;Text style={{ fontSize: 56, fontWeight: 'bold', color: '#FFFFFF', textAlign: 'center', lineHeight: 1.2 }}&gt;&#10;      One Prompt. One Goal.&lt;br /&gt;&#10;      &lt;span style={{ backgroundImage: 'linear-gradient(135deg, #3B82F6 0%, #06B6D4 100%)', backgroundClip: 'text', color: 'transparent' }}&gt;Zero Missed Deadlines.&lt;/span&gt;&#10;    &lt;/Text&gt;&#10;    &lt;Box style={{ width: 80, height: 3, background: 'linear-gradient(90deg, #3B82F6, #06B6D4)', borderRadius: 2 }} /&gt;&#10;    &lt;Text style={{ fontSize: 24, color: '#94A3B8', textAlign: 'center' }}&gt;TaskFlow AI&lt;/Text&gt;&#10;    &lt;Text style={{ fontSize: 18, color: '#64748B', textAlign: 'center' }}&gt;Track 2: WorkBuddy Agentic Solution&lt;/Text&gt;&#10;    &lt;Box style={{ marginTop: 24, flexDirection: 'row', gap: 40 }}&gt;&#10;      &lt;Box style={{ flexDirection: 'row', alignItems: 'center', gap: 8 }}&gt;&#10;        &lt;Box style={{ width: 8, height: 8, borderRadius: 4, background: '#3B82F6' }} /&gt;&#10;        &lt;Text style={{ fontSize: 16, color: '#94A3B8' }}&gt;6 Agents&lt;/Text&gt;&#10;      &lt;/Box&gt;&#10;      &lt;Box style={{ flexDirection: 'row', alignItems: 'center', gap: 8 }}&gt;&#10;        &lt;Box style={{ width: 8, height: 8, borderRadius: 4, background: '#06B6D4' }} /&gt;&#10;        &lt;Text style={{ fontSize: 16, color: '#94A3B8' }}&gt;14 Features&lt;/Text&gt;&#10;      &lt;/Box&gt;&#10;      &lt;Box style={{ flexDirection: 'row', alignItems: 'center', gap: 8 }}&gt;&#10;        &lt;Box style={{ width: 8, height: 8, borderRadius: 4, background: '#10B981' }} /&gt;&#10;        &lt;Text style={{ fontSize: 16, color: '#94A3B8' }}&gt;0 Missed Deadlines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pic>
        <p:nvPicPr>
          <p:cNvPr id="2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981325" y="1581150"/>
            <a:ext cx="6238875" cy="1543050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One Prompt. One Goal.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420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Zero Missed Deadlines.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715000" y="3429000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467350" y="3762375"/>
            <a:ext cx="126682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572000" y="4343400"/>
            <a:ext cx="30480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Track 2: WorkBuddy Agentic Solution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029075" y="5143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181475" y="5086350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6 Agents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5210175" y="5143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362575" y="5086350"/>
            <a:ext cx="84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14 Features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591300" y="5143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743700" y="5086350"/>
            <a:ext cx="1419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0 Missed Deadlines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2026-10-10T18:55:07Z</dcterms:created>
  <dcterms:modified xsi:type="dcterms:W3CDTF">2026-10-10T18:55:07Z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{"AIGC":{"Label":"1","ContentProducer":"00119111010856365494821B355","ProduceID":"01a124c6d83671a8b4f21b394650d4c4","ReservedCode1":"","ContentPropagator":"00119111010856365494821B355","PropagateID":"01a124c6d83671a8b4f21b394650d4c4","ReservedCode2":""}}</vt:lpwstr>
  </property>
</Properties>
</file>